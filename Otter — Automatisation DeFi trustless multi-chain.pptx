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6256000" cy="9144000"/>
  <p:notesSz cx="9144000" cy="16256000"/>
  <p:embeddedFontLst>
    <p:embeddedFont>
      <p:font typeface="Liter" charset="-122" pitchFamily="34"/>
      <p:regular r:id="rId29"/>
    </p:embeddedFont>
    <p:embeddedFont>
      <p:font typeface="Quattrocento Sans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Jours-homme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Backend API</c:v>
                  </c:pt>
                  <c:pt idx="1">
                    <c:v>QA / DevOps</c:v>
                  </c:pt>
                  <c:pt idx="2">
                    <c:v>Smart Contracts EVM</c:v>
                  </c:pt>
                  <c:pt idx="3">
                    <c:v>Circuits ZK</c:v>
                  </c:pt>
                  <c:pt idx="4">
                    <c:v>Frontend</c:v>
                  </c:pt>
                  <c:pt idx="5">
                    <c:v>Solana Anchor</c:v>
                  </c:pt>
                  <c:pt idx="6">
                    <c:v>LLM / Parsing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75</c:v>
                </c:pt>
                <c:pt idx="2">
                  <c:v>50</c:v>
                </c:pt>
                <c:pt idx="3">
                  <c:v>50</c:v>
                </c:pt>
                <c:pt idx="4">
                  <c:v>45</c:v>
                </c:pt>
                <c:pt idx="5">
                  <c:v>40</c:v>
                </c:pt>
                <c:pt idx="6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montant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FB923C"/>
              </a:solidFill>
              <a:effectLst/>
            </c:spPr>
          </c:dPt>
          <c:dPt>
            <c:idx val="4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Développement</c:v>
                </c:pt>
                <c:pt idx="1">
                  <c:v>Audit sécurité</c:v>
                </c:pt>
                <c:pt idx="2">
                  <c:v>Fonds roulement</c:v>
                </c:pt>
                <c:pt idx="3">
                  <c:v>Juridique</c:v>
                </c:pt>
                <c:pt idx="4">
                  <c:v>Infrastructure</c:v>
                </c:pt>
                <c:pt idx="5">
                  <c:v>Marketing</c:v>
                </c:pt>
                <c:pt idx="6">
                  <c:v>Logiciels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159750</c:v>
                </c:pt>
                <c:pt idx="1">
                  <c:v>80000</c:v>
                </c:pt>
                <c:pt idx="2">
                  <c:v>45000</c:v>
                </c:pt>
                <c:pt idx="3">
                  <c:v>12000</c:v>
                </c:pt>
                <c:pt idx="4">
                  <c:v>10000</c:v>
                </c:pt>
                <c:pt idx="5">
                  <c:v>8000</c:v>
                </c:pt>
                <c:pt idx="6">
                  <c:v>2000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rnwxpe7m5mym/mnt/agents/output/otter_presentation/images/1_102_046_Abstract_Blockchain_Background.png">    </p:cNvPr>
          <p:cNvPicPr>
            <a:picLocks noChangeAspect="1"/>
          </p:cNvPicPr>
          <p:nvPr/>
        </p:nvPicPr>
        <p:blipFill>
          <a:blip r:embed="rId1"/>
          <a:srcRect l="0" r="0" t="74" b="7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700" y="-3810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50000">
                <a:srgbClr val="1E3A8A">
                  <a:alpha val="80000"/>
                </a:srgbClr>
              </a:gs>
              <a:gs pos="100000">
                <a:srgbClr val="1E3A8A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75500" y="1524000"/>
            <a:ext cx="1905000" cy="1905000"/>
          </a:xfrm>
          <a:prstGeom prst="ellipse">
            <a:avLst/>
          </a:prstGeom>
          <a:solidFill>
            <a:srgbClr val="FFFFFF">
              <a:alpha val="12549"/>
            </a:srgbClr>
          </a:solidFill>
          <a:ln w="254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51750" y="20955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270123" y="293340"/>
                </a:moveTo>
                <a:lnTo>
                  <a:pt x="289322" y="302865"/>
                </a:lnTo>
                <a:cubicBezTo>
                  <a:pt x="298103" y="307330"/>
                  <a:pt x="307777" y="309563"/>
                  <a:pt x="317748" y="309563"/>
                </a:cubicBezTo>
                <a:cubicBezTo>
                  <a:pt x="352723" y="309563"/>
                  <a:pt x="381149" y="281136"/>
                  <a:pt x="381149" y="246162"/>
                </a:cubicBezTo>
                <a:lnTo>
                  <a:pt x="381149" y="214313"/>
                </a:lnTo>
                <a:cubicBezTo>
                  <a:pt x="381149" y="161776"/>
                  <a:pt x="338435" y="119063"/>
                  <a:pt x="285899" y="119063"/>
                </a:cubicBezTo>
                <a:lnTo>
                  <a:pt x="190649" y="119063"/>
                </a:lnTo>
                <a:cubicBezTo>
                  <a:pt x="138113" y="119063"/>
                  <a:pt x="95399" y="161776"/>
                  <a:pt x="95399" y="214313"/>
                </a:cubicBezTo>
                <a:lnTo>
                  <a:pt x="95399" y="246162"/>
                </a:lnTo>
                <a:cubicBezTo>
                  <a:pt x="95399" y="281136"/>
                  <a:pt x="123825" y="309563"/>
                  <a:pt x="158800" y="309563"/>
                </a:cubicBezTo>
                <a:cubicBezTo>
                  <a:pt x="168622" y="309563"/>
                  <a:pt x="178296" y="307330"/>
                  <a:pt x="187226" y="302865"/>
                </a:cubicBezTo>
                <a:cubicBezTo>
                  <a:pt x="201067" y="295870"/>
                  <a:pt x="211634" y="290661"/>
                  <a:pt x="218777" y="287089"/>
                </a:cubicBezTo>
                <a:lnTo>
                  <a:pt x="201067" y="275332"/>
                </a:lnTo>
                <a:cubicBezTo>
                  <a:pt x="194370" y="270867"/>
                  <a:pt x="190500" y="263426"/>
                  <a:pt x="190500" y="255538"/>
                </a:cubicBezTo>
                <a:lnTo>
                  <a:pt x="190500" y="250031"/>
                </a:lnTo>
                <a:cubicBezTo>
                  <a:pt x="190500" y="230237"/>
                  <a:pt x="206425" y="214313"/>
                  <a:pt x="226219" y="214313"/>
                </a:cubicBezTo>
                <a:lnTo>
                  <a:pt x="250031" y="214313"/>
                </a:lnTo>
                <a:cubicBezTo>
                  <a:pt x="269825" y="214313"/>
                  <a:pt x="285750" y="230237"/>
                  <a:pt x="285750" y="250031"/>
                </a:cubicBezTo>
                <a:lnTo>
                  <a:pt x="285750" y="255538"/>
                </a:lnTo>
                <a:cubicBezTo>
                  <a:pt x="285750" y="263426"/>
                  <a:pt x="281732" y="270867"/>
                  <a:pt x="275183" y="275332"/>
                </a:cubicBezTo>
                <a:lnTo>
                  <a:pt x="257621" y="287089"/>
                </a:lnTo>
                <a:lnTo>
                  <a:pt x="270123" y="293340"/>
                </a:lnTo>
                <a:close/>
                <a:moveTo>
                  <a:pt x="257324" y="366861"/>
                </a:moveTo>
                <a:lnTo>
                  <a:pt x="238125" y="357336"/>
                </a:lnTo>
                <a:lnTo>
                  <a:pt x="218926" y="366861"/>
                </a:lnTo>
                <a:cubicBezTo>
                  <a:pt x="200174" y="376238"/>
                  <a:pt x="179487" y="381149"/>
                  <a:pt x="158651" y="381149"/>
                </a:cubicBezTo>
                <a:cubicBezTo>
                  <a:pt x="153293" y="381149"/>
                  <a:pt x="148084" y="380851"/>
                  <a:pt x="142875" y="380256"/>
                </a:cubicBezTo>
                <a:lnTo>
                  <a:pt x="142875" y="381149"/>
                </a:lnTo>
                <a:cubicBezTo>
                  <a:pt x="142875" y="433685"/>
                  <a:pt x="185589" y="476399"/>
                  <a:pt x="238125" y="476399"/>
                </a:cubicBezTo>
                <a:lnTo>
                  <a:pt x="333375" y="476399"/>
                </a:lnTo>
                <a:cubicBezTo>
                  <a:pt x="359718" y="476399"/>
                  <a:pt x="381000" y="497681"/>
                  <a:pt x="381000" y="524024"/>
                </a:cubicBezTo>
                <a:cubicBezTo>
                  <a:pt x="381000" y="550366"/>
                  <a:pt x="359718" y="571649"/>
                  <a:pt x="333375" y="571649"/>
                </a:cubicBezTo>
                <a:lnTo>
                  <a:pt x="571500" y="571649"/>
                </a:lnTo>
                <a:lnTo>
                  <a:pt x="571500" y="476399"/>
                </a:lnTo>
                <a:cubicBezTo>
                  <a:pt x="571500" y="441127"/>
                  <a:pt x="590699" y="410319"/>
                  <a:pt x="619125" y="393948"/>
                </a:cubicBezTo>
                <a:cubicBezTo>
                  <a:pt x="633115" y="385911"/>
                  <a:pt x="649337" y="381149"/>
                  <a:pt x="666750" y="381149"/>
                </a:cubicBezTo>
                <a:lnTo>
                  <a:pt x="666750" y="357336"/>
                </a:lnTo>
                <a:cubicBezTo>
                  <a:pt x="666750" y="317897"/>
                  <a:pt x="698748" y="285899"/>
                  <a:pt x="738188" y="285899"/>
                </a:cubicBezTo>
                <a:cubicBezTo>
                  <a:pt x="751284" y="285899"/>
                  <a:pt x="762000" y="296614"/>
                  <a:pt x="762000" y="309711"/>
                </a:cubicBezTo>
                <a:lnTo>
                  <a:pt x="762000" y="452586"/>
                </a:lnTo>
                <a:cubicBezTo>
                  <a:pt x="762000" y="465683"/>
                  <a:pt x="772716" y="476399"/>
                  <a:pt x="785813" y="476399"/>
                </a:cubicBezTo>
                <a:cubicBezTo>
                  <a:pt x="798909" y="476399"/>
                  <a:pt x="809625" y="465683"/>
                  <a:pt x="809625" y="452586"/>
                </a:cubicBezTo>
                <a:lnTo>
                  <a:pt x="809625" y="304205"/>
                </a:lnTo>
                <a:cubicBezTo>
                  <a:pt x="809625" y="232470"/>
                  <a:pt x="763786" y="168771"/>
                  <a:pt x="695623" y="146000"/>
                </a:cubicBezTo>
                <a:lnTo>
                  <a:pt x="682972" y="141833"/>
                </a:lnTo>
                <a:cubicBezTo>
                  <a:pt x="671066" y="137815"/>
                  <a:pt x="664220" y="125313"/>
                  <a:pt x="667494" y="113109"/>
                </a:cubicBezTo>
                <a:cubicBezTo>
                  <a:pt x="670768" y="100905"/>
                  <a:pt x="682823" y="93464"/>
                  <a:pt x="695176" y="95845"/>
                </a:cubicBezTo>
                <a:lnTo>
                  <a:pt x="724793" y="101798"/>
                </a:lnTo>
                <a:cubicBezTo>
                  <a:pt x="857250" y="128141"/>
                  <a:pt x="952500" y="244376"/>
                  <a:pt x="952500" y="379363"/>
                </a:cubicBezTo>
                <a:lnTo>
                  <a:pt x="952500" y="381000"/>
                </a:lnTo>
                <a:lnTo>
                  <a:pt x="952500" y="381000"/>
                </a:lnTo>
                <a:cubicBezTo>
                  <a:pt x="952500" y="565100"/>
                  <a:pt x="803225" y="714375"/>
                  <a:pt x="619125" y="714375"/>
                </a:cubicBezTo>
                <a:lnTo>
                  <a:pt x="380107" y="714375"/>
                </a:lnTo>
                <a:cubicBezTo>
                  <a:pt x="196453" y="714375"/>
                  <a:pt x="47625" y="565547"/>
                  <a:pt x="47625" y="381893"/>
                </a:cubicBezTo>
                <a:lnTo>
                  <a:pt x="47625" y="322659"/>
                </a:lnTo>
                <a:cubicBezTo>
                  <a:pt x="32593" y="300930"/>
                  <a:pt x="23812" y="274588"/>
                  <a:pt x="23812" y="246162"/>
                </a:cubicBezTo>
                <a:lnTo>
                  <a:pt x="23812" y="214313"/>
                </a:lnTo>
                <a:lnTo>
                  <a:pt x="23812" y="212229"/>
                </a:lnTo>
                <a:cubicBezTo>
                  <a:pt x="9971" y="207318"/>
                  <a:pt x="0" y="194221"/>
                  <a:pt x="0" y="178594"/>
                </a:cubicBezTo>
                <a:cubicBezTo>
                  <a:pt x="0" y="158800"/>
                  <a:pt x="15925" y="142875"/>
                  <a:pt x="35719" y="142875"/>
                </a:cubicBezTo>
                <a:lnTo>
                  <a:pt x="39886" y="142875"/>
                </a:lnTo>
                <a:cubicBezTo>
                  <a:pt x="66675" y="86618"/>
                  <a:pt x="123974" y="47625"/>
                  <a:pt x="190500" y="47625"/>
                </a:cubicBezTo>
                <a:lnTo>
                  <a:pt x="285750" y="47625"/>
                </a:lnTo>
                <a:cubicBezTo>
                  <a:pt x="352276" y="47625"/>
                  <a:pt x="409575" y="86618"/>
                  <a:pt x="436364" y="142875"/>
                </a:cubicBezTo>
                <a:lnTo>
                  <a:pt x="440531" y="142875"/>
                </a:lnTo>
                <a:cubicBezTo>
                  <a:pt x="460325" y="142875"/>
                  <a:pt x="476250" y="158800"/>
                  <a:pt x="476250" y="178594"/>
                </a:cubicBezTo>
                <a:cubicBezTo>
                  <a:pt x="476250" y="194221"/>
                  <a:pt x="466279" y="207318"/>
                  <a:pt x="452438" y="212229"/>
                </a:cubicBezTo>
                <a:lnTo>
                  <a:pt x="452438" y="214313"/>
                </a:lnTo>
                <a:lnTo>
                  <a:pt x="452438" y="246162"/>
                </a:lnTo>
                <a:cubicBezTo>
                  <a:pt x="452438" y="248245"/>
                  <a:pt x="452438" y="250329"/>
                  <a:pt x="452289" y="252561"/>
                </a:cubicBezTo>
                <a:cubicBezTo>
                  <a:pt x="470148" y="243334"/>
                  <a:pt x="490537" y="238274"/>
                  <a:pt x="511969" y="238274"/>
                </a:cubicBezTo>
                <a:lnTo>
                  <a:pt x="523875" y="238274"/>
                </a:lnTo>
                <a:cubicBezTo>
                  <a:pt x="550218" y="238274"/>
                  <a:pt x="571500" y="259556"/>
                  <a:pt x="571500" y="285899"/>
                </a:cubicBezTo>
                <a:cubicBezTo>
                  <a:pt x="571500" y="312241"/>
                  <a:pt x="550218" y="333524"/>
                  <a:pt x="523875" y="333524"/>
                </a:cubicBezTo>
                <a:lnTo>
                  <a:pt x="511969" y="333524"/>
                </a:lnTo>
                <a:cubicBezTo>
                  <a:pt x="492175" y="333524"/>
                  <a:pt x="476250" y="349448"/>
                  <a:pt x="476250" y="369243"/>
                </a:cubicBezTo>
                <a:lnTo>
                  <a:pt x="476250" y="381149"/>
                </a:lnTo>
                <a:lnTo>
                  <a:pt x="560189" y="381149"/>
                </a:lnTo>
                <a:cubicBezTo>
                  <a:pt x="537567" y="406450"/>
                  <a:pt x="523875" y="439787"/>
                  <a:pt x="523875" y="476399"/>
                </a:cubicBezTo>
                <a:lnTo>
                  <a:pt x="476250" y="476399"/>
                </a:lnTo>
                <a:cubicBezTo>
                  <a:pt x="413296" y="476399"/>
                  <a:pt x="359866" y="435620"/>
                  <a:pt x="340816" y="379214"/>
                </a:cubicBezTo>
                <a:cubicBezTo>
                  <a:pt x="333226" y="380554"/>
                  <a:pt x="325487" y="381149"/>
                  <a:pt x="317599" y="381149"/>
                </a:cubicBezTo>
                <a:cubicBezTo>
                  <a:pt x="296614" y="381149"/>
                  <a:pt x="276076" y="376238"/>
                  <a:pt x="257324" y="366861"/>
                </a:cubicBezTo>
                <a:close/>
                <a:moveTo>
                  <a:pt x="142875" y="190500"/>
                </a:moveTo>
                <a:cubicBezTo>
                  <a:pt x="156017" y="190500"/>
                  <a:pt x="166688" y="201170"/>
                  <a:pt x="166688" y="214313"/>
                </a:cubicBezTo>
                <a:cubicBezTo>
                  <a:pt x="166688" y="227455"/>
                  <a:pt x="156017" y="238125"/>
                  <a:pt x="142875" y="238125"/>
                </a:cubicBezTo>
                <a:cubicBezTo>
                  <a:pt x="129733" y="238125"/>
                  <a:pt x="119063" y="227455"/>
                  <a:pt x="119063" y="214313"/>
                </a:cubicBezTo>
                <a:cubicBezTo>
                  <a:pt x="119063" y="201170"/>
                  <a:pt x="129733" y="190500"/>
                  <a:pt x="142875" y="190500"/>
                </a:cubicBezTo>
                <a:close/>
                <a:moveTo>
                  <a:pt x="309563" y="214313"/>
                </a:moveTo>
                <a:cubicBezTo>
                  <a:pt x="309563" y="201170"/>
                  <a:pt x="320233" y="190500"/>
                  <a:pt x="333375" y="190500"/>
                </a:cubicBezTo>
                <a:cubicBezTo>
                  <a:pt x="346517" y="190500"/>
                  <a:pt x="357188" y="201170"/>
                  <a:pt x="357188" y="214313"/>
                </a:cubicBezTo>
                <a:cubicBezTo>
                  <a:pt x="357188" y="227455"/>
                  <a:pt x="346517" y="238125"/>
                  <a:pt x="333375" y="238125"/>
                </a:cubicBezTo>
                <a:cubicBezTo>
                  <a:pt x="320233" y="238125"/>
                  <a:pt x="309563" y="227455"/>
                  <a:pt x="309563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3683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spc="8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13000" y="469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Automatisation DeFi trustless multi-chain par langage naturel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23000" y="5461000"/>
            <a:ext cx="3810000" cy="0"/>
          </a:xfrm>
          <a:prstGeom prst="straightConnector1">
            <a:avLst/>
          </a:prstGeom>
          <a:noFill/>
          <a:ln w="127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3048000" y="571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U P 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23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Juin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0" y="68580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6858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MVP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DeFi est fragmentée, opaque et hostile aux non-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Trois frustrations qui freinent l'adoption de masse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540000"/>
            <a:ext cx="76200" cy="482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104900" y="2921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95275" y="104775"/>
                </a:moveTo>
                <a:lnTo>
                  <a:pt x="390525" y="104775"/>
                </a:lnTo>
                <a:lnTo>
                  <a:pt x="390525" y="161925"/>
                </a:lnTo>
                <a:lnTo>
                  <a:pt x="295275" y="161925"/>
                </a:lnTo>
                <a:lnTo>
                  <a:pt x="295275" y="104775"/>
                </a:lnTo>
                <a:close/>
                <a:moveTo>
                  <a:pt x="285750" y="38100"/>
                </a:moveTo>
                <a:cubicBezTo>
                  <a:pt x="254198" y="38100"/>
                  <a:pt x="228600" y="63698"/>
                  <a:pt x="228600" y="95250"/>
                </a:cubicBezTo>
                <a:lnTo>
                  <a:pt x="228600" y="171450"/>
                </a:lnTo>
                <a:cubicBezTo>
                  <a:pt x="228600" y="203002"/>
                  <a:pt x="254198" y="228600"/>
                  <a:pt x="285750" y="228600"/>
                </a:cubicBezTo>
                <a:lnTo>
                  <a:pt x="304800" y="228600"/>
                </a:lnTo>
                <a:lnTo>
                  <a:pt x="304800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152400" y="342900"/>
                </a:lnTo>
                <a:lnTo>
                  <a:pt x="152400" y="381000"/>
                </a:lnTo>
                <a:lnTo>
                  <a:pt x="133350" y="381000"/>
                </a:lnTo>
                <a:cubicBezTo>
                  <a:pt x="101798" y="381000"/>
                  <a:pt x="76200" y="406598"/>
                  <a:pt x="76200" y="438150"/>
                </a:cubicBezTo>
                <a:lnTo>
                  <a:pt x="76200" y="514350"/>
                </a:lnTo>
                <a:cubicBezTo>
                  <a:pt x="76200" y="545902"/>
                  <a:pt x="101798" y="571500"/>
                  <a:pt x="133350" y="571500"/>
                </a:cubicBezTo>
                <a:lnTo>
                  <a:pt x="247650" y="571500"/>
                </a:lnTo>
                <a:cubicBezTo>
                  <a:pt x="279202" y="571500"/>
                  <a:pt x="304800" y="545902"/>
                  <a:pt x="304800" y="514350"/>
                </a:cubicBezTo>
                <a:lnTo>
                  <a:pt x="304800" y="438150"/>
                </a:lnTo>
                <a:cubicBezTo>
                  <a:pt x="304800" y="406598"/>
                  <a:pt x="279202" y="381000"/>
                  <a:pt x="247650" y="381000"/>
                </a:cubicBezTo>
                <a:lnTo>
                  <a:pt x="228600" y="381000"/>
                </a:lnTo>
                <a:lnTo>
                  <a:pt x="228600" y="342900"/>
                </a:lnTo>
                <a:lnTo>
                  <a:pt x="457200" y="342900"/>
                </a:lnTo>
                <a:lnTo>
                  <a:pt x="457200" y="381000"/>
                </a:lnTo>
                <a:lnTo>
                  <a:pt x="438150" y="381000"/>
                </a:lnTo>
                <a:cubicBezTo>
                  <a:pt x="406598" y="381000"/>
                  <a:pt x="381000" y="406598"/>
                  <a:pt x="381000" y="438150"/>
                </a:cubicBezTo>
                <a:lnTo>
                  <a:pt x="381000" y="514350"/>
                </a:lnTo>
                <a:cubicBezTo>
                  <a:pt x="381000" y="545902"/>
                  <a:pt x="406598" y="571500"/>
                  <a:pt x="438150" y="571500"/>
                </a:cubicBezTo>
                <a:lnTo>
                  <a:pt x="552450" y="571500"/>
                </a:lnTo>
                <a:cubicBezTo>
                  <a:pt x="584002" y="571500"/>
                  <a:pt x="609600" y="545902"/>
                  <a:pt x="609600" y="514350"/>
                </a:cubicBezTo>
                <a:lnTo>
                  <a:pt x="609600" y="438150"/>
                </a:lnTo>
                <a:cubicBezTo>
                  <a:pt x="609600" y="406598"/>
                  <a:pt x="584002" y="381000"/>
                  <a:pt x="552450" y="381000"/>
                </a:cubicBezTo>
                <a:lnTo>
                  <a:pt x="533400" y="381000"/>
                </a:lnTo>
                <a:lnTo>
                  <a:pt x="533400" y="342900"/>
                </a:lnTo>
                <a:lnTo>
                  <a:pt x="647700" y="342900"/>
                </a:lnTo>
                <a:cubicBezTo>
                  <a:pt x="668774" y="342900"/>
                  <a:pt x="685800" y="325874"/>
                  <a:pt x="685800" y="304800"/>
                </a:cubicBezTo>
                <a:cubicBezTo>
                  <a:pt x="685800" y="283726"/>
                  <a:pt x="668774" y="266700"/>
                  <a:pt x="647700" y="266700"/>
                </a:cubicBezTo>
                <a:lnTo>
                  <a:pt x="381000" y="266700"/>
                </a:lnTo>
                <a:lnTo>
                  <a:pt x="381000" y="228600"/>
                </a:lnTo>
                <a:lnTo>
                  <a:pt x="400050" y="228600"/>
                </a:lnTo>
                <a:cubicBezTo>
                  <a:pt x="431602" y="228600"/>
                  <a:pt x="457200" y="203002"/>
                  <a:pt x="457200" y="171450"/>
                </a:cubicBezTo>
                <a:lnTo>
                  <a:pt x="457200" y="95250"/>
                </a:lnTo>
                <a:cubicBezTo>
                  <a:pt x="457200" y="63698"/>
                  <a:pt x="431602" y="38100"/>
                  <a:pt x="400050" y="38100"/>
                </a:cubicBezTo>
                <a:lnTo>
                  <a:pt x="285750" y="38100"/>
                </a:lnTo>
                <a:close/>
                <a:moveTo>
                  <a:pt x="533400" y="447675"/>
                </a:moveTo>
                <a:lnTo>
                  <a:pt x="542925" y="447675"/>
                </a:lnTo>
                <a:lnTo>
                  <a:pt x="542925" y="504825"/>
                </a:lnTo>
                <a:lnTo>
                  <a:pt x="447675" y="504825"/>
                </a:lnTo>
                <a:lnTo>
                  <a:pt x="447675" y="447675"/>
                </a:lnTo>
                <a:lnTo>
                  <a:pt x="533400" y="447675"/>
                </a:lnTo>
                <a:close/>
                <a:moveTo>
                  <a:pt x="228600" y="447675"/>
                </a:moveTo>
                <a:lnTo>
                  <a:pt x="238125" y="447675"/>
                </a:lnTo>
                <a:lnTo>
                  <a:pt x="238125" y="504825"/>
                </a:lnTo>
                <a:lnTo>
                  <a:pt x="142875" y="504825"/>
                </a:lnTo>
                <a:lnTo>
                  <a:pt x="142875" y="447675"/>
                </a:lnTo>
                <a:lnTo>
                  <a:pt x="228600" y="447675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chaînes à surveiller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191000"/>
            <a:ext cx="381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Ethereum, Arbitrum, Base, Optimism, BNB Chain, Solana — chaque chaîne a ses protocoles, ses wallets, ses frais. L'utilisateur moyen abandonne face à cette complexité.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42000" y="2540000"/>
            <a:ext cx="4572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42000" y="2540000"/>
            <a:ext cx="76200" cy="48260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4900" y="2921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-19050"/>
                </a:moveTo>
                <a:cubicBezTo>
                  <a:pt x="327065" y="-19050"/>
                  <a:pt x="314325" y="-6310"/>
                  <a:pt x="314325" y="9525"/>
                </a:cubicBezTo>
                <a:lnTo>
                  <a:pt x="314325" y="23813"/>
                </a:lnTo>
                <a:lnTo>
                  <a:pt x="312182" y="23813"/>
                </a:lnTo>
                <a:cubicBezTo>
                  <a:pt x="268605" y="23813"/>
                  <a:pt x="233363" y="59174"/>
                  <a:pt x="233363" y="102632"/>
                </a:cubicBezTo>
                <a:cubicBezTo>
                  <a:pt x="233363" y="142399"/>
                  <a:pt x="263009" y="175974"/>
                  <a:pt x="302419" y="180856"/>
                </a:cubicBezTo>
                <a:lnTo>
                  <a:pt x="375047" y="189905"/>
                </a:lnTo>
                <a:cubicBezTo>
                  <a:pt x="381119" y="190619"/>
                  <a:pt x="385763" y="195858"/>
                  <a:pt x="385763" y="202049"/>
                </a:cubicBezTo>
                <a:cubicBezTo>
                  <a:pt x="385763" y="208836"/>
                  <a:pt x="380286" y="214193"/>
                  <a:pt x="373618" y="214193"/>
                </a:cubicBezTo>
                <a:lnTo>
                  <a:pt x="285750" y="214313"/>
                </a:lnTo>
                <a:cubicBezTo>
                  <a:pt x="267295" y="214313"/>
                  <a:pt x="252413" y="229195"/>
                  <a:pt x="252413" y="247650"/>
                </a:cubicBezTo>
                <a:cubicBezTo>
                  <a:pt x="252413" y="266105"/>
                  <a:pt x="267295" y="280987"/>
                  <a:pt x="285750" y="280987"/>
                </a:cubicBezTo>
                <a:lnTo>
                  <a:pt x="314325" y="280987"/>
                </a:lnTo>
                <a:lnTo>
                  <a:pt x="314325" y="295275"/>
                </a:lnTo>
                <a:cubicBezTo>
                  <a:pt x="314325" y="311110"/>
                  <a:pt x="327065" y="323850"/>
                  <a:pt x="342900" y="323850"/>
                </a:cubicBezTo>
                <a:cubicBezTo>
                  <a:pt x="358735" y="323850"/>
                  <a:pt x="371475" y="311110"/>
                  <a:pt x="371475" y="295275"/>
                </a:cubicBezTo>
                <a:lnTo>
                  <a:pt x="371475" y="280987"/>
                </a:lnTo>
                <a:lnTo>
                  <a:pt x="373618" y="280987"/>
                </a:lnTo>
                <a:cubicBezTo>
                  <a:pt x="417195" y="280987"/>
                  <a:pt x="452437" y="245626"/>
                  <a:pt x="452437" y="202168"/>
                </a:cubicBezTo>
                <a:cubicBezTo>
                  <a:pt x="452437" y="162401"/>
                  <a:pt x="422791" y="128826"/>
                  <a:pt x="383381" y="123944"/>
                </a:cubicBezTo>
                <a:lnTo>
                  <a:pt x="310753" y="114895"/>
                </a:lnTo>
                <a:cubicBezTo>
                  <a:pt x="304681" y="114181"/>
                  <a:pt x="300038" y="108942"/>
                  <a:pt x="300038" y="102751"/>
                </a:cubicBezTo>
                <a:cubicBezTo>
                  <a:pt x="300038" y="95964"/>
                  <a:pt x="305514" y="90607"/>
                  <a:pt x="312182" y="90607"/>
                </a:cubicBezTo>
                <a:lnTo>
                  <a:pt x="390525" y="90488"/>
                </a:lnTo>
                <a:cubicBezTo>
                  <a:pt x="408980" y="90488"/>
                  <a:pt x="423863" y="75605"/>
                  <a:pt x="423863" y="57150"/>
                </a:cubicBezTo>
                <a:cubicBezTo>
                  <a:pt x="423863" y="38695"/>
                  <a:pt x="408980" y="23813"/>
                  <a:pt x="390525" y="23813"/>
                </a:cubicBezTo>
                <a:lnTo>
                  <a:pt x="371475" y="23813"/>
                </a:lnTo>
                <a:lnTo>
                  <a:pt x="371475" y="9525"/>
                </a:lnTo>
                <a:cubicBezTo>
                  <a:pt x="371475" y="-6310"/>
                  <a:pt x="358735" y="-19050"/>
                  <a:pt x="342900" y="-19050"/>
                </a:cubicBezTo>
                <a:close/>
                <a:moveTo>
                  <a:pt x="130135" y="406598"/>
                </a:moveTo>
                <a:lnTo>
                  <a:pt x="79415" y="457200"/>
                </a:lnTo>
                <a:lnTo>
                  <a:pt x="38100" y="457200"/>
                </a:lnTo>
                <a:cubicBezTo>
                  <a:pt x="17026" y="457200"/>
                  <a:pt x="0" y="474226"/>
                  <a:pt x="0" y="495300"/>
                </a:cubicBezTo>
                <a:lnTo>
                  <a:pt x="0" y="571500"/>
                </a:lnTo>
                <a:cubicBezTo>
                  <a:pt x="0" y="592574"/>
                  <a:pt x="17026" y="609600"/>
                  <a:pt x="38100" y="609600"/>
                </a:cubicBezTo>
                <a:lnTo>
                  <a:pt x="419695" y="609600"/>
                </a:lnTo>
                <a:cubicBezTo>
                  <a:pt x="454223" y="609600"/>
                  <a:pt x="487918" y="598527"/>
                  <a:pt x="515779" y="578048"/>
                </a:cubicBezTo>
                <a:lnTo>
                  <a:pt x="666512" y="466963"/>
                </a:lnTo>
                <a:cubicBezTo>
                  <a:pt x="687705" y="451366"/>
                  <a:pt x="692229" y="421600"/>
                  <a:pt x="676632" y="400407"/>
                </a:cubicBezTo>
                <a:cubicBezTo>
                  <a:pt x="661035" y="379214"/>
                  <a:pt x="631269" y="374690"/>
                  <a:pt x="610076" y="390287"/>
                </a:cubicBezTo>
                <a:lnTo>
                  <a:pt x="467439" y="495300"/>
                </a:lnTo>
                <a:lnTo>
                  <a:pt x="333375" y="495300"/>
                </a:lnTo>
                <a:cubicBezTo>
                  <a:pt x="317540" y="495300"/>
                  <a:pt x="304800" y="482560"/>
                  <a:pt x="304800" y="466725"/>
                </a:cubicBezTo>
                <a:cubicBezTo>
                  <a:pt x="304800" y="450890"/>
                  <a:pt x="317540" y="438150"/>
                  <a:pt x="333375" y="438150"/>
                </a:cubicBezTo>
                <a:lnTo>
                  <a:pt x="419100" y="438150"/>
                </a:lnTo>
                <a:cubicBezTo>
                  <a:pt x="440174" y="438150"/>
                  <a:pt x="457200" y="421124"/>
                  <a:pt x="457200" y="400050"/>
                </a:cubicBezTo>
                <a:cubicBezTo>
                  <a:pt x="457200" y="378976"/>
                  <a:pt x="440174" y="361950"/>
                  <a:pt x="419100" y="361950"/>
                </a:cubicBezTo>
                <a:lnTo>
                  <a:pt x="237887" y="361950"/>
                </a:lnTo>
                <a:cubicBezTo>
                  <a:pt x="197525" y="361950"/>
                  <a:pt x="158710" y="378023"/>
                  <a:pt x="130135" y="406598"/>
                </a:cubicBezTo>
                <a:close/>
              </a:path>
            </a:pathLst>
          </a:cu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Céder la garde de ses actifs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23000" y="4191000"/>
            <a:ext cx="381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solutions existantes (Gelato, Keep3r) demandent de transférer ses fonds à un opérateur centralisé. Une seule compromission = perte totale.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22000" y="2540000"/>
            <a:ext cx="4572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22000" y="2540000"/>
            <a:ext cx="76200" cy="482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41100" y="2921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403384" y="-11787"/>
                </a:moveTo>
                <a:cubicBezTo>
                  <a:pt x="417552" y="-1548"/>
                  <a:pt x="422791" y="17026"/>
                  <a:pt x="416362" y="33218"/>
                </a:cubicBezTo>
                <a:lnTo>
                  <a:pt x="323017" y="266700"/>
                </a:lnTo>
                <a:lnTo>
                  <a:pt x="495300" y="266700"/>
                </a:lnTo>
                <a:cubicBezTo>
                  <a:pt x="511373" y="266700"/>
                  <a:pt x="525661" y="276701"/>
                  <a:pt x="531138" y="291822"/>
                </a:cubicBezTo>
                <a:cubicBezTo>
                  <a:pt x="536615" y="306943"/>
                  <a:pt x="531971" y="323850"/>
                  <a:pt x="519708" y="334089"/>
                </a:cubicBezTo>
                <a:lnTo>
                  <a:pt x="176808" y="619839"/>
                </a:lnTo>
                <a:cubicBezTo>
                  <a:pt x="163354" y="631031"/>
                  <a:pt x="144185" y="631627"/>
                  <a:pt x="130016" y="621387"/>
                </a:cubicBezTo>
                <a:cubicBezTo>
                  <a:pt x="115848" y="611148"/>
                  <a:pt x="110609" y="592574"/>
                  <a:pt x="117038" y="576382"/>
                </a:cubicBezTo>
                <a:lnTo>
                  <a:pt x="210383" y="342900"/>
                </a:lnTo>
                <a:lnTo>
                  <a:pt x="38100" y="342900"/>
                </a:lnTo>
                <a:cubicBezTo>
                  <a:pt x="22027" y="342900"/>
                  <a:pt x="7739" y="332899"/>
                  <a:pt x="2262" y="317778"/>
                </a:cubicBezTo>
                <a:cubicBezTo>
                  <a:pt x="-3215" y="302657"/>
                  <a:pt x="1429" y="285750"/>
                  <a:pt x="13692" y="275511"/>
                </a:cubicBezTo>
                <a:lnTo>
                  <a:pt x="356592" y="-10239"/>
                </a:lnTo>
                <a:cubicBezTo>
                  <a:pt x="370046" y="-21431"/>
                  <a:pt x="389215" y="-22027"/>
                  <a:pt x="403384" y="-1178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MEV prédateur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03000" y="4191000"/>
            <a:ext cx="381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bots d'arbitrage extraient de la valeur sur chaque transaction. L'utilisateur subit sans comprendre, ni se défendre.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 : Votre agent DeFi multi-chain, vérifiable mathématiquement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89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32000"/>
            <a:ext cx="3810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32000" y="2413000"/>
            <a:ext cx="1270000" cy="12700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2362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1499" y="25837"/>
                </a:moveTo>
                <a:cubicBezTo>
                  <a:pt x="535424" y="-238"/>
                  <a:pt x="493276" y="-238"/>
                  <a:pt x="467201" y="25837"/>
                </a:cubicBezTo>
                <a:lnTo>
                  <a:pt x="438150" y="54888"/>
                </a:lnTo>
                <a:lnTo>
                  <a:pt x="554712" y="171450"/>
                </a:lnTo>
                <a:lnTo>
                  <a:pt x="583763" y="142399"/>
                </a:lnTo>
                <a:cubicBezTo>
                  <a:pt x="609838" y="116324"/>
                  <a:pt x="609838" y="74176"/>
                  <a:pt x="583763" y="48101"/>
                </a:cubicBezTo>
                <a:lnTo>
                  <a:pt x="561499" y="25837"/>
                </a:lnTo>
                <a:close/>
                <a:moveTo>
                  <a:pt x="205264" y="287774"/>
                </a:moveTo>
                <a:cubicBezTo>
                  <a:pt x="198001" y="295037"/>
                  <a:pt x="192405" y="303967"/>
                  <a:pt x="189190" y="313849"/>
                </a:cubicBezTo>
                <a:lnTo>
                  <a:pt x="153948" y="419576"/>
                </a:lnTo>
                <a:cubicBezTo>
                  <a:pt x="150495" y="429816"/>
                  <a:pt x="153233" y="441127"/>
                  <a:pt x="160853" y="448866"/>
                </a:cubicBezTo>
                <a:cubicBezTo>
                  <a:pt x="168473" y="456605"/>
                  <a:pt x="179784" y="459224"/>
                  <a:pt x="190143" y="455771"/>
                </a:cubicBezTo>
                <a:lnTo>
                  <a:pt x="295870" y="420529"/>
                </a:lnTo>
                <a:cubicBezTo>
                  <a:pt x="305633" y="417314"/>
                  <a:pt x="314563" y="411718"/>
                  <a:pt x="321945" y="404455"/>
                </a:cubicBezTo>
                <a:lnTo>
                  <a:pt x="514350" y="211812"/>
                </a:lnTo>
                <a:lnTo>
                  <a:pt x="397788" y="95250"/>
                </a:lnTo>
                <a:lnTo>
                  <a:pt x="205264" y="287774"/>
                </a:lnTo>
                <a:close/>
                <a:moveTo>
                  <a:pt x="114300" y="76200"/>
                </a:moveTo>
                <a:cubicBezTo>
                  <a:pt x="51197" y="76200"/>
                  <a:pt x="0" y="127397"/>
                  <a:pt x="0" y="190500"/>
                </a:cubicBezTo>
                <a:lnTo>
                  <a:pt x="0" y="495300"/>
                </a:lnTo>
                <a:cubicBezTo>
                  <a:pt x="0" y="558403"/>
                  <a:pt x="51197" y="609600"/>
                  <a:pt x="114300" y="609600"/>
                </a:cubicBezTo>
                <a:lnTo>
                  <a:pt x="419100" y="609600"/>
                </a:lnTo>
                <a:cubicBezTo>
                  <a:pt x="482203" y="609600"/>
                  <a:pt x="533400" y="558403"/>
                  <a:pt x="533400" y="495300"/>
                </a:cubicBezTo>
                <a:lnTo>
                  <a:pt x="533400" y="381000"/>
                </a:lnTo>
                <a:cubicBezTo>
                  <a:pt x="533400" y="359926"/>
                  <a:pt x="516374" y="342900"/>
                  <a:pt x="495300" y="342900"/>
                </a:cubicBezTo>
                <a:cubicBezTo>
                  <a:pt x="474226" y="342900"/>
                  <a:pt x="457200" y="359926"/>
                  <a:pt x="457200" y="381000"/>
                </a:cubicBezTo>
                <a:lnTo>
                  <a:pt x="457200" y="495300"/>
                </a:lnTo>
                <a:cubicBezTo>
                  <a:pt x="457200" y="516374"/>
                  <a:pt x="440174" y="533400"/>
                  <a:pt x="419100" y="533400"/>
                </a:cubicBezTo>
                <a:lnTo>
                  <a:pt x="114300" y="533400"/>
                </a:lnTo>
                <a:cubicBezTo>
                  <a:pt x="93226" y="533400"/>
                  <a:pt x="76200" y="516374"/>
                  <a:pt x="76200" y="495300"/>
                </a:cubicBezTo>
                <a:lnTo>
                  <a:pt x="76200" y="190500"/>
                </a:lnTo>
                <a:cubicBezTo>
                  <a:pt x="76200" y="169426"/>
                  <a:pt x="93226" y="152400"/>
                  <a:pt x="114300" y="152400"/>
                </a:cubicBezTo>
                <a:lnTo>
                  <a:pt x="228600" y="152400"/>
                </a:lnTo>
                <a:cubicBezTo>
                  <a:pt x="249674" y="152400"/>
                  <a:pt x="266700" y="135374"/>
                  <a:pt x="266700" y="114300"/>
                </a:cubicBezTo>
                <a:cubicBezTo>
                  <a:pt x="266700" y="93226"/>
                  <a:pt x="249674" y="76200"/>
                  <a:pt x="228600" y="76200"/>
                </a:cubicBezTo>
                <a:lnTo>
                  <a:pt x="114300" y="7620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Langage naturel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445000"/>
            <a:ext cx="330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Décrivez votre stratégie en français. Le LLM local parse votre intent sans jamais l'envoyer au cloud.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2032000"/>
            <a:ext cx="3810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85000" y="2413000"/>
            <a:ext cx="1270000" cy="12700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91400" y="27432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lnTo>
                  <a:pt x="152400" y="190500"/>
                </a:lnTo>
                <a:lnTo>
                  <a:pt x="304800" y="190500"/>
                </a:lnTo>
                <a:lnTo>
                  <a:pt x="304800" y="114300"/>
                </a:lnTo>
                <a:cubicBezTo>
                  <a:pt x="304800" y="72271"/>
                  <a:pt x="270629" y="38100"/>
                  <a:pt x="228600" y="38100"/>
                </a:cubicBezTo>
                <a:cubicBezTo>
                  <a:pt x="186571" y="38100"/>
                  <a:pt x="152400" y="72271"/>
                  <a:pt x="152400" y="114300"/>
                </a:cubicBezTo>
                <a:close/>
                <a:moveTo>
                  <a:pt x="76200" y="190500"/>
                </a:moveTo>
                <a:lnTo>
                  <a:pt x="76200" y="114300"/>
                </a:lnTo>
                <a:cubicBezTo>
                  <a:pt x="76200" y="30123"/>
                  <a:pt x="144423" y="-38100"/>
                  <a:pt x="228600" y="-38100"/>
                </a:cubicBezTo>
                <a:cubicBezTo>
                  <a:pt x="312777" y="-38100"/>
                  <a:pt x="381000" y="30123"/>
                  <a:pt x="381000" y="114300"/>
                </a:cubicBezTo>
                <a:lnTo>
                  <a:pt x="381000" y="190500"/>
                </a:lnTo>
                <a:cubicBezTo>
                  <a:pt x="423029" y="190500"/>
                  <a:pt x="457200" y="224671"/>
                  <a:pt x="457200" y="2667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34171" y="190500"/>
                  <a:pt x="76200" y="1905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3937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Délégation + ZKP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4445000"/>
            <a:ext cx="330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Signez vos limites cryptographiques. La preuve ZK garantit que l'agent respecte vos règles sans les révéler.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2032000"/>
            <a:ext cx="4826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19000" y="2413000"/>
            <a:ext cx="1524000" cy="1270000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18" name="Shape 16"/>
          <p:cNvSpPr/>
          <p:nvPr/>
        </p:nvSpPr>
        <p:spPr>
          <a:xfrm>
            <a:off x="12814300" y="27432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403384" y="-11787"/>
                </a:moveTo>
                <a:cubicBezTo>
                  <a:pt x="417552" y="-1548"/>
                  <a:pt x="422791" y="17026"/>
                  <a:pt x="416362" y="33218"/>
                </a:cubicBezTo>
                <a:lnTo>
                  <a:pt x="323017" y="266700"/>
                </a:lnTo>
                <a:lnTo>
                  <a:pt x="495300" y="266700"/>
                </a:lnTo>
                <a:cubicBezTo>
                  <a:pt x="511373" y="266700"/>
                  <a:pt x="525661" y="276701"/>
                  <a:pt x="531138" y="291822"/>
                </a:cubicBezTo>
                <a:cubicBezTo>
                  <a:pt x="536615" y="306943"/>
                  <a:pt x="531971" y="323850"/>
                  <a:pt x="519708" y="334089"/>
                </a:cubicBezTo>
                <a:lnTo>
                  <a:pt x="176808" y="619839"/>
                </a:lnTo>
                <a:cubicBezTo>
                  <a:pt x="163354" y="631031"/>
                  <a:pt x="144185" y="631627"/>
                  <a:pt x="130016" y="621387"/>
                </a:cubicBezTo>
                <a:cubicBezTo>
                  <a:pt x="115848" y="611148"/>
                  <a:pt x="110609" y="592574"/>
                  <a:pt x="117038" y="576382"/>
                </a:cubicBezTo>
                <a:lnTo>
                  <a:pt x="210383" y="342900"/>
                </a:lnTo>
                <a:lnTo>
                  <a:pt x="38100" y="342900"/>
                </a:lnTo>
                <a:cubicBezTo>
                  <a:pt x="22027" y="342900"/>
                  <a:pt x="7739" y="332899"/>
                  <a:pt x="2262" y="317778"/>
                </a:cubicBezTo>
                <a:cubicBezTo>
                  <a:pt x="-3215" y="302657"/>
                  <a:pt x="1429" y="285750"/>
                  <a:pt x="13692" y="275511"/>
                </a:cubicBezTo>
                <a:lnTo>
                  <a:pt x="356592" y="-10239"/>
                </a:lnTo>
                <a:cubicBezTo>
                  <a:pt x="370046" y="-21431"/>
                  <a:pt x="389215" y="-22027"/>
                  <a:pt x="403384" y="-1178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3937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Exécution multi-chain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22000" y="44450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EVM + Solana, même expérience. Vaults natifs sur chaque chaîne. Le MEV capturé est reversé à l'utilisateur.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88000" y="6731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5588000" y="6731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Reversement MEV intégré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équipe complète de 4 fondateurs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342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5000" y="1905000"/>
            <a:ext cx="1143000" cy="11430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1905000"/>
            <a:ext cx="1143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3238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36576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Fondateur &amp; Architecte Logiciel / ZK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 produit, circuits Noir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651000"/>
            <a:ext cx="342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905000"/>
            <a:ext cx="1143000" cy="11430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905000"/>
            <a:ext cx="1143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3238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36576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Développeur Backend Rust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Axum, orchestrateur, EVM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651000"/>
            <a:ext cx="342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25000" y="1905000"/>
            <a:ext cx="1143000" cy="11430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0" y="1905000"/>
            <a:ext cx="1143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3238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36576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Développeuse Smart Contract &amp; ZK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Solidity, Anchor, tests Foundry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192000" y="1651000"/>
            <a:ext cx="3302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271500" y="1905000"/>
            <a:ext cx="1143000" cy="1143000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21" name="Text 19"/>
          <p:cNvSpPr/>
          <p:nvPr/>
        </p:nvSpPr>
        <p:spPr>
          <a:xfrm>
            <a:off x="13271500" y="1905000"/>
            <a:ext cx="1143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19000" y="3238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19000" y="36576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Développeur Frontend &amp; UX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React, wagmi, RainbowKit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461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5461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Cohérence stack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Rust (backend + circuits + Solana) · Solidity (EVM) · TypeScript (frontend)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Cartographie des parties prenantes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524000"/>
            <a:ext cx="76200" cy="2032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651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CERCLE INTERNE — Forte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095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Équipe fondatrice (4 pers.)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 testeurs early adopters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Décisions quotidiennes, core team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2000" y="3810000"/>
            <a:ext cx="76200" cy="2032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3937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CERCLE MOYEN — Moyenne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381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Auditeurs de sécurité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RPC providers (Alchemy, Helius)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builders / MEV searchers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096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6096000"/>
            <a:ext cx="76200" cy="2032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223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CERCLE EXTERNE — Faible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667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Régulateurs MiCA / SEC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Communauté DeFi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Investisseurs potentiels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42000" y="152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Légende des niveaux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2095500"/>
            <a:ext cx="381000" cy="0"/>
          </a:xfrm>
          <a:prstGeom prst="straightConnector1">
            <a:avLst/>
          </a:prstGeom>
          <a:noFill/>
          <a:ln w="381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6413500" y="19431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Forte — Décisions quotidiennes, core team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42000" y="2603500"/>
            <a:ext cx="381000" cy="0"/>
          </a:xfrm>
          <a:prstGeom prst="straightConnector1">
            <a:avLst/>
          </a:prstGeom>
          <a:noFill/>
          <a:ln w="3810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413500" y="24511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Moyenne — Partenariats, services tiers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3111500"/>
            <a:ext cx="381000" cy="0"/>
          </a:xfrm>
          <a:prstGeom prst="straightConnector1">
            <a:avLst/>
          </a:prstGeom>
          <a:noFill/>
          <a:ln w="38100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6413500" y="29591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Faible — Veille, conformité, influence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42000" y="381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Profils d'utilisateurs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42000" y="4381500"/>
            <a:ext cx="939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Wallet basique, peur des hacks, veut automatiser sans coder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users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Stratégies complexes multi-chain, exige transparence ZK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Treasury DAO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Délégation sécurisée, compliance, exécution non-custodial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B92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Non-tech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Interface "Google-like", textarea + confirmation visuelle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Comment automatiser une stratégie DeFi complexe sans céder la garde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14732000" cy="5715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05000"/>
            <a:ext cx="142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Automatiser sur EVM et Solana sans céder la garde ni faire confiance à un opérateur centralisé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302000"/>
            <a:ext cx="3429000" cy="40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3302000"/>
            <a:ext cx="3429000" cy="76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2127250" y="368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380802"/>
                  <a:pt x="349448" y="301625"/>
                  <a:pt x="251718" y="301625"/>
                </a:cubicBezTo>
                <a:lnTo>
                  <a:pt x="192782" y="301625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38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889500"/>
            <a:ext cx="292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Automatiser sans coder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 jamais perdre la garde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simple et guidée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Frais gas maîtrisés (L2)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3302000"/>
            <a:ext cx="3429000" cy="40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3302000"/>
            <a:ext cx="3429000" cy="76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055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6000" y="438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users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6000" y="4889500"/>
            <a:ext cx="292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Limites cryptographiques vérifiables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 permanent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Frais faibles L2 / Solana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Transparence ZK complète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302000"/>
            <a:ext cx="3429000" cy="40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2000" y="3302000"/>
            <a:ext cx="34290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652000" y="3683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438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opérateurs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4889500"/>
            <a:ext cx="292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de réputation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Revenus MEV transparents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Concurrence loyale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Preuve de performance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192000" y="3302000"/>
            <a:ext cx="3302000" cy="40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192000" y="3302000"/>
            <a:ext cx="3302000" cy="76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3462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12446000" y="4381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B92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Fondateurs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446000" y="4889500"/>
            <a:ext cx="279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Traction utilisateur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Différenciation ZK multi-chain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Barrière technologique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Scalabilité protocolaire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Matrice SWOT — Positionnement stratégique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5715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86000"/>
            <a:ext cx="6667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Stack Rust + Noir unique — aucun concurrent ne combine NL + ZKP + MEV + multi-chain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local garantissant confidentialité absolue des intents financiers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18500" y="1524000"/>
            <a:ext cx="7175500" cy="571500"/>
          </a:xfrm>
          <a:prstGeom prst="roundRect">
            <a:avLst>
              <a:gd name="adj" fmla="val 8000"/>
            </a:avLst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8318500" y="15240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FAIBLESSES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0" y="2286000"/>
            <a:ext cx="6667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A8A0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Complexité multi-chain (Solana nécessite adapter spécifique Rust/Anchor)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A8A0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Courbe d'apprentissage utilisateur sur le concept ZK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A8A0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Besoin d'audits indépendants avant mainnet sur chaque chaîne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207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5207000"/>
            <a:ext cx="7175500" cy="5715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2070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9690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ZK mainstream en 2026 (institutionnels, VCs, wallets intégrés)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Solana consolidé comme hub DeFi à haut débit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Fragmentation cross-chain : besoin d'une couche d'abstraction unique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18500" y="5207000"/>
            <a:ext cx="71755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8500" y="5207000"/>
            <a:ext cx="7175500" cy="5715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318500" y="52070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MENACES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0" y="59690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Régulation MiCA 2026 (agents autonomes, statut de garde)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Concurrence : UniswapX, Gelato, Jupiter pourraient intégrer ZK nativement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Risque de bug dans les circuits ou contrats = perte de fonds réelle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Faisable en 2026 : toutes les briques existent et sont matures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risque principal est réglementaire, pas technique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Noir v1.x stable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31496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Circuits ZK production-ready, syntaxe Rust-native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540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995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Anchor v1 mature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0" y="31496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Solana standard, macros sécurisées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064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7780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Alloy production-ready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46736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EVM natif Rust, type-safe, moderne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4064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995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llama.cpp local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000" y="46736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Inférence LLM offline, modèles GGUF 4-8GB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588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795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7780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Foundry standard EVM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78000" y="61976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Tests, fuzzing, déploiement multi-chain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5588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995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93980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Flashbots + Jito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98000" y="61976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MEV mature sur EVM et Solana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112000"/>
            <a:ext cx="14732000" cy="4445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7112000"/>
            <a:ext cx="1422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Avis critique :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 projet est faisable. Toutes les briques existent. Le plus grand risque est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réglementaire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(statut de l'agent MiCA), pas technique.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globale — 3 couches, 6 chaînes, 1 expérience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460500"/>
            <a:ext cx="4572000" cy="406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457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— Bleu Off-chain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06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+ Vite + Tailwind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RainbowKit + Solana Wallet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Textarea NL + Wizard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multi-chain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48000" y="3746500"/>
            <a:ext cx="0" cy="381000"/>
          </a:xfrm>
          <a:prstGeom prst="straightConnector1">
            <a:avLst/>
          </a:prstGeom>
          <a:noFill/>
          <a:ln w="25400">
            <a:solidFill>
              <a:srgbClr val="1E3A8A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762000" y="4127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4127500"/>
            <a:ext cx="4572000" cy="406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127500"/>
            <a:ext cx="457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— Violet ZKP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673600"/>
            <a:ext cx="406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Axum + WebSocket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Orchestrateur state-machine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Parser (llama.cpp)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ZKP Prover (Noir)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MEV Capture (Flashbots/Jito)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48000" y="6667500"/>
            <a:ext cx="0" cy="317500"/>
          </a:xfrm>
          <a:prstGeom prst="straightConnector1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" y="6985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22C55E">
              <a:alpha val="12549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6985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EVM On-chain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75000" y="69850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FB923C">
              <a:alpha val="12549"/>
            </a:srgbClr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5000" y="6985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B92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0" y="146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Légende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0000" y="1968500"/>
            <a:ext cx="228600" cy="228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705600" y="19304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Bleu = Off-chain (Frontend / Backend)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0" y="2387600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705600" y="2349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 = EVM On-chain (Solidity)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0" y="2806700"/>
            <a:ext cx="228600" cy="2286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6705600" y="27686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Orange = Solana (Anchor)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0000" y="3225800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705600" y="31877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Violet = ZKP (Noir / Preuves)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0000" y="3746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Chaînes EVM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0000" y="4165600"/>
            <a:ext cx="381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Ethereum L1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Arbitrum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Optimism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BNB Chain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0000" y="622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B92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Solana (non-EVM)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0000" y="66294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B92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Solana L1 (PoH + PoS)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Adapter Rust/Anchor dédié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0000" y="7493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hexagonale : chaque couche est remplaçable. Nouveau protocole = nouvel adapter. Nouvelle chaîne = nouveau vault.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technique — Choix retenus vs alternatives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350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677672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Retenu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Alternative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Justification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ZKP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B5CF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Noir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Circom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Syntaxe Rust-native, intégration Barretenberg, cohérence avec l'équipe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(llama.cpp)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 OpenAI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Confidentialité absolue, offline, écologique (modèle 4GB Q4_K_M)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3A8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Axum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Écosystème Tower, intégration native Tokio, cohérence Rust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Ethers.js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Natif Rust, type-safe, moderne, friction minimale avec le backend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Solana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B92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Anchor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Vanilla Rust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Abstraction sécurisée, macros, standard communautaire Solana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Frontend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 + wagmi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Vue + web3.js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 EVM 2026, RainbowKit abstraction wallet, Vite rapide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Multi-chain native — Pas de bridge, vaults sur chaque chaîne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22C55E">
              <a:alpha val="8235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5750" y="2032000"/>
            <a:ext cx="317500" cy="508000"/>
          </a:xfrm>
          <a:custGeom>
            <a:avLst/>
            <a:gdLst/>
            <a:ahLst/>
            <a:cxnLst/>
            <a:rect l="l" t="t" r="r" b="b"/>
            <a:pathLst>
              <a:path w="317500" h="508000">
                <a:moveTo>
                  <a:pt x="309463" y="258763"/>
                </a:moveTo>
                <a:lnTo>
                  <a:pt x="158750" y="350838"/>
                </a:lnTo>
                <a:lnTo>
                  <a:pt x="7938" y="258763"/>
                </a:lnTo>
                <a:lnTo>
                  <a:pt x="158750" y="0"/>
                </a:lnTo>
                <a:lnTo>
                  <a:pt x="309463" y="258763"/>
                </a:lnTo>
                <a:close/>
                <a:moveTo>
                  <a:pt x="158750" y="380405"/>
                </a:moveTo>
                <a:lnTo>
                  <a:pt x="7938" y="288330"/>
                </a:lnTo>
                <a:lnTo>
                  <a:pt x="158750" y="508000"/>
                </a:lnTo>
                <a:lnTo>
                  <a:pt x="309562" y="288330"/>
                </a:lnTo>
                <a:lnTo>
                  <a:pt x="158750" y="380405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2667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Ethereum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30226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 EVM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0" y="1778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22C55E">
              <a:alpha val="8235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735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302000" y="2667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Arbitrum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02000" y="30226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 EVM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8000" y="1778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22C55E">
              <a:alpha val="8235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18250" y="2032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667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30226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 EVM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0" y="1778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22C55E">
              <a:alpha val="8235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1250" y="2032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2667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0" y="30226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L2 EVM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1778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22C55E">
              <a:alpha val="8235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125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548" y="-2480"/>
                </a:moveTo>
                <a:cubicBezTo>
                  <a:pt x="242193" y="-13791"/>
                  <a:pt x="266402" y="-13791"/>
                  <a:pt x="286048" y="-2480"/>
                </a:cubicBezTo>
                <a:lnTo>
                  <a:pt x="460573" y="98227"/>
                </a:lnTo>
                <a:cubicBezTo>
                  <a:pt x="480219" y="109538"/>
                  <a:pt x="492323" y="130572"/>
                  <a:pt x="492323" y="153194"/>
                </a:cubicBezTo>
                <a:lnTo>
                  <a:pt x="492323" y="354608"/>
                </a:lnTo>
                <a:cubicBezTo>
                  <a:pt x="492323" y="377329"/>
                  <a:pt x="480219" y="398264"/>
                  <a:pt x="460573" y="409575"/>
                </a:cubicBezTo>
                <a:lnTo>
                  <a:pt x="286048" y="510480"/>
                </a:lnTo>
                <a:cubicBezTo>
                  <a:pt x="266402" y="521791"/>
                  <a:pt x="242193" y="521791"/>
                  <a:pt x="222548" y="510480"/>
                </a:cubicBezTo>
                <a:lnTo>
                  <a:pt x="48121" y="409773"/>
                </a:lnTo>
                <a:cubicBezTo>
                  <a:pt x="28476" y="398463"/>
                  <a:pt x="16371" y="377428"/>
                  <a:pt x="16371" y="354806"/>
                </a:cubicBezTo>
                <a:lnTo>
                  <a:pt x="16371" y="153392"/>
                </a:lnTo>
                <a:cubicBezTo>
                  <a:pt x="16371" y="130671"/>
                  <a:pt x="28476" y="109736"/>
                  <a:pt x="48121" y="98425"/>
                </a:cubicBezTo>
                <a:lnTo>
                  <a:pt x="222548" y="-2480"/>
                </a:lnTo>
                <a:close/>
                <a:moveTo>
                  <a:pt x="428724" y="354707"/>
                </a:moveTo>
                <a:lnTo>
                  <a:pt x="428724" y="189905"/>
                </a:lnTo>
                <a:lnTo>
                  <a:pt x="286048" y="272256"/>
                </a:lnTo>
                <a:lnTo>
                  <a:pt x="286048" y="437059"/>
                </a:lnTo>
                <a:lnTo>
                  <a:pt x="428724" y="354707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0541000" y="2667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BNB Chain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41000" y="30226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27000" y="1778000"/>
            <a:ext cx="2667000" cy="1778000"/>
          </a:xfrm>
          <a:prstGeom prst="roundRect">
            <a:avLst>
              <a:gd name="adj" fmla="val 8000"/>
            </a:avLst>
          </a:prstGeom>
          <a:solidFill>
            <a:srgbClr val="FB923C">
              <a:alpha val="8235"/>
            </a:srgbClr>
          </a:solidFill>
          <a:ln w="38100">
            <a:solidFill>
              <a:srgbClr val="FB9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47750" y="203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76808" y="-10021"/>
                </a:moveTo>
                <a:cubicBezTo>
                  <a:pt x="184150" y="-13097"/>
                  <a:pt x="192484" y="-12204"/>
                  <a:pt x="199132" y="-7838"/>
                </a:cubicBezTo>
                <a:lnTo>
                  <a:pt x="286246" y="49907"/>
                </a:lnTo>
                <a:lnTo>
                  <a:pt x="373360" y="-7838"/>
                </a:lnTo>
                <a:cubicBezTo>
                  <a:pt x="380008" y="-12204"/>
                  <a:pt x="388342" y="-12998"/>
                  <a:pt x="395684" y="-10021"/>
                </a:cubicBezTo>
                <a:cubicBezTo>
                  <a:pt x="403027" y="-7045"/>
                  <a:pt x="408186" y="-496"/>
                  <a:pt x="409773" y="7243"/>
                </a:cubicBezTo>
                <a:lnTo>
                  <a:pt x="430510" y="109637"/>
                </a:lnTo>
                <a:lnTo>
                  <a:pt x="532904" y="130373"/>
                </a:lnTo>
                <a:cubicBezTo>
                  <a:pt x="540643" y="131961"/>
                  <a:pt x="547191" y="137319"/>
                  <a:pt x="550168" y="144562"/>
                </a:cubicBezTo>
                <a:cubicBezTo>
                  <a:pt x="553145" y="151805"/>
                  <a:pt x="552351" y="160238"/>
                  <a:pt x="547985" y="166886"/>
                </a:cubicBezTo>
                <a:lnTo>
                  <a:pt x="490240" y="254000"/>
                </a:lnTo>
                <a:lnTo>
                  <a:pt x="547985" y="341114"/>
                </a:lnTo>
                <a:cubicBezTo>
                  <a:pt x="552351" y="347762"/>
                  <a:pt x="553145" y="356096"/>
                  <a:pt x="550168" y="363438"/>
                </a:cubicBezTo>
                <a:cubicBezTo>
                  <a:pt x="547191" y="370780"/>
                  <a:pt x="540643" y="376138"/>
                  <a:pt x="532904" y="377627"/>
                </a:cubicBezTo>
                <a:lnTo>
                  <a:pt x="430411" y="398264"/>
                </a:lnTo>
                <a:lnTo>
                  <a:pt x="409773" y="500757"/>
                </a:lnTo>
                <a:cubicBezTo>
                  <a:pt x="408186" y="508496"/>
                  <a:pt x="402828" y="515045"/>
                  <a:pt x="395585" y="518021"/>
                </a:cubicBezTo>
                <a:cubicBezTo>
                  <a:pt x="388342" y="520998"/>
                  <a:pt x="379909" y="520204"/>
                  <a:pt x="373261" y="515838"/>
                </a:cubicBezTo>
                <a:lnTo>
                  <a:pt x="286147" y="458093"/>
                </a:lnTo>
                <a:lnTo>
                  <a:pt x="199033" y="515838"/>
                </a:lnTo>
                <a:cubicBezTo>
                  <a:pt x="192385" y="520204"/>
                  <a:pt x="184051" y="520998"/>
                  <a:pt x="176709" y="518021"/>
                </a:cubicBezTo>
                <a:cubicBezTo>
                  <a:pt x="169366" y="515045"/>
                  <a:pt x="164009" y="508496"/>
                  <a:pt x="162520" y="500757"/>
                </a:cubicBezTo>
                <a:lnTo>
                  <a:pt x="141883" y="398264"/>
                </a:lnTo>
                <a:lnTo>
                  <a:pt x="39390" y="377527"/>
                </a:lnTo>
                <a:cubicBezTo>
                  <a:pt x="31651" y="375940"/>
                  <a:pt x="25102" y="370582"/>
                  <a:pt x="22126" y="363339"/>
                </a:cubicBezTo>
                <a:cubicBezTo>
                  <a:pt x="19149" y="356096"/>
                  <a:pt x="19943" y="347663"/>
                  <a:pt x="24309" y="341015"/>
                </a:cubicBezTo>
                <a:lnTo>
                  <a:pt x="82054" y="254000"/>
                </a:lnTo>
                <a:lnTo>
                  <a:pt x="24309" y="166886"/>
                </a:lnTo>
                <a:cubicBezTo>
                  <a:pt x="19943" y="160238"/>
                  <a:pt x="19149" y="151904"/>
                  <a:pt x="22126" y="144562"/>
                </a:cubicBezTo>
                <a:cubicBezTo>
                  <a:pt x="25102" y="137220"/>
                  <a:pt x="31651" y="131862"/>
                  <a:pt x="39390" y="130373"/>
                </a:cubicBezTo>
                <a:lnTo>
                  <a:pt x="141883" y="109736"/>
                </a:lnTo>
                <a:lnTo>
                  <a:pt x="162620" y="7243"/>
                </a:lnTo>
                <a:cubicBezTo>
                  <a:pt x="164207" y="-496"/>
                  <a:pt x="169565" y="-7045"/>
                  <a:pt x="176808" y="-10021"/>
                </a:cubicBezTo>
                <a:close/>
                <a:moveTo>
                  <a:pt x="205978" y="254000"/>
                </a:moveTo>
                <a:cubicBezTo>
                  <a:pt x="205978" y="225500"/>
                  <a:pt x="221183" y="199165"/>
                  <a:pt x="245864" y="184916"/>
                </a:cubicBezTo>
                <a:cubicBezTo>
                  <a:pt x="270546" y="170666"/>
                  <a:pt x="300954" y="170666"/>
                  <a:pt x="325636" y="184916"/>
                </a:cubicBezTo>
                <a:cubicBezTo>
                  <a:pt x="350317" y="199165"/>
                  <a:pt x="365522" y="225500"/>
                  <a:pt x="365522" y="254000"/>
                </a:cubicBezTo>
                <a:cubicBezTo>
                  <a:pt x="365522" y="298027"/>
                  <a:pt x="329777" y="333772"/>
                  <a:pt x="285750" y="333772"/>
                </a:cubicBezTo>
                <a:cubicBezTo>
                  <a:pt x="241723" y="333772"/>
                  <a:pt x="205978" y="298027"/>
                  <a:pt x="205978" y="254000"/>
                </a:cubicBezTo>
                <a:close/>
                <a:moveTo>
                  <a:pt x="413147" y="254000"/>
                </a:moveTo>
                <a:cubicBezTo>
                  <a:pt x="413147" y="183688"/>
                  <a:pt x="356062" y="126603"/>
                  <a:pt x="285750" y="126603"/>
                </a:cubicBezTo>
                <a:cubicBezTo>
                  <a:pt x="215438" y="126603"/>
                  <a:pt x="158353" y="183688"/>
                  <a:pt x="158353" y="254000"/>
                </a:cubicBezTo>
                <a:cubicBezTo>
                  <a:pt x="158353" y="299515"/>
                  <a:pt x="182635" y="341572"/>
                  <a:pt x="222052" y="364329"/>
                </a:cubicBezTo>
                <a:cubicBezTo>
                  <a:pt x="261468" y="387086"/>
                  <a:pt x="310032" y="387086"/>
                  <a:pt x="349448" y="364329"/>
                </a:cubicBezTo>
                <a:cubicBezTo>
                  <a:pt x="388865" y="341572"/>
                  <a:pt x="413147" y="299515"/>
                  <a:pt x="413147" y="254000"/>
                </a:cubicBezTo>
                <a:close/>
              </a:path>
            </a:pathLst>
          </a:cu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0" y="26670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B92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Solana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0" y="30226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Non-EVM (PoH + PoS)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41500" y="3556000"/>
            <a:ext cx="12573000" cy="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588000" y="3937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588000" y="393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 DE BRIDGE — Vaults natifs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49530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chaîne = son propre vault natif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fonds ne quittent jamais la chaîne d'origine. Pas de risque de bridge hack. Pas de wrapping complexe.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Adapter dédié Solana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Rust/Anchor pour gérer le paradigme comptes (accounts) différent d'EVM. Même preuve ZK, même sécurité.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Stratégie multi-chain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L'utilisateur décrit une stratégie globale. L'orchestrateur la décompose par chaîne. Chaque vault exécute sa partie avec preuve ZK locale.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Cartographie des risques — 9 risques prioritaires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6604000"/>
        </p:xfrm>
        <a:graphic>
          <a:graphicData uri="http://schemas.openxmlformats.org/drawingml/2006/table">
            <a:tbl>
              <a:tblPr/>
              <a:tblGrid>
                <a:gridCol w="4419600"/>
                <a:gridCol w="1767840"/>
                <a:gridCol w="1767840"/>
                <a:gridCol w="1767840"/>
                <a:gridCol w="2062480"/>
                <a:gridCol w="2946400"/>
              </a:tblGrid>
              <a:tr h="53442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Risque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Proba.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Impact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Criticité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Indicateur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Bug circuit ZK Noir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Élevée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Tests + audit formel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Vulnérabilité SC EVM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Élevée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Foundry 100% + audit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Vulnérabilité Solana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Élevée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Tests Anchor + audit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Perte clé agent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Élevée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HSM / KMS + multisig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Évolution MiCA / SEC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Élevé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A580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Élevée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Veille juridique trim.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Indisponibilité agent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Fonctionnel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Heartbeat + PagerDuty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Parsing erroné LLM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Fonctionnel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Regex fallback + UI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Congestion Solana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Failover RPC multi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439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Dérive sémantique LLM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Fonctionnel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Moyenne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Whitelist hardcodée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piliers de sécurité pour un mainnet confiant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342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5000" y="2032000"/>
            <a:ext cx="1143000" cy="11430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6" name="Shape 4"/>
          <p:cNvSpPr/>
          <p:nvPr/>
        </p:nvSpPr>
        <p:spPr>
          <a:xfrm>
            <a:off x="2235200" y="23622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41300" y="0"/>
                </a:moveTo>
                <a:cubicBezTo>
                  <a:pt x="245636" y="0"/>
                  <a:pt x="249972" y="943"/>
                  <a:pt x="253931" y="2733"/>
                </a:cubicBezTo>
                <a:lnTo>
                  <a:pt x="431512" y="78045"/>
                </a:lnTo>
                <a:cubicBezTo>
                  <a:pt x="452249" y="86811"/>
                  <a:pt x="467707" y="107265"/>
                  <a:pt x="467613" y="131961"/>
                </a:cubicBezTo>
                <a:cubicBezTo>
                  <a:pt x="467142" y="225465"/>
                  <a:pt x="428685" y="396543"/>
                  <a:pt x="266278" y="474305"/>
                </a:cubicBezTo>
                <a:cubicBezTo>
                  <a:pt x="250537" y="481846"/>
                  <a:pt x="232251" y="481846"/>
                  <a:pt x="216510" y="474305"/>
                </a:cubicBezTo>
                <a:cubicBezTo>
                  <a:pt x="54010" y="396543"/>
                  <a:pt x="15647" y="225465"/>
                  <a:pt x="15176" y="131961"/>
                </a:cubicBezTo>
                <a:cubicBezTo>
                  <a:pt x="15081" y="107265"/>
                  <a:pt x="30540" y="86811"/>
                  <a:pt x="51276" y="78045"/>
                </a:cubicBezTo>
                <a:lnTo>
                  <a:pt x="228764" y="2733"/>
                </a:lnTo>
                <a:cubicBezTo>
                  <a:pt x="232723" y="943"/>
                  <a:pt x="236964" y="0"/>
                  <a:pt x="241300" y="0"/>
                </a:cubicBezTo>
                <a:close/>
                <a:moveTo>
                  <a:pt x="241300" y="62964"/>
                </a:moveTo>
                <a:lnTo>
                  <a:pt x="241300" y="419353"/>
                </a:lnTo>
                <a:cubicBezTo>
                  <a:pt x="371376" y="356389"/>
                  <a:pt x="406345" y="216887"/>
                  <a:pt x="407194" y="133375"/>
                </a:cubicBezTo>
                <a:lnTo>
                  <a:pt x="241300" y="63058"/>
                </a:lnTo>
                <a:lnTo>
                  <a:pt x="241300" y="6305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429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formel circuits Noir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191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Vérification mathématique des circuits ZK par auditeur spécialisé avant déploiement.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651000"/>
            <a:ext cx="342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2032000"/>
            <a:ext cx="1143000" cy="11430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6015038" y="2362200"/>
            <a:ext cx="542925" cy="482600"/>
          </a:xfrm>
          <a:custGeom>
            <a:avLst/>
            <a:gdLst/>
            <a:ahLst/>
            <a:cxnLst/>
            <a:rect l="l" t="t" r="r" b="b"/>
            <a:pathLst>
              <a:path w="542925" h="482600">
                <a:moveTo>
                  <a:pt x="340082" y="1131"/>
                </a:moveTo>
                <a:cubicBezTo>
                  <a:pt x="324058" y="-3488"/>
                  <a:pt x="307375" y="5844"/>
                  <a:pt x="302756" y="21868"/>
                </a:cubicBezTo>
                <a:lnTo>
                  <a:pt x="182106" y="444143"/>
                </a:lnTo>
                <a:cubicBezTo>
                  <a:pt x="177487" y="460167"/>
                  <a:pt x="186819" y="476850"/>
                  <a:pt x="202843" y="481469"/>
                </a:cubicBezTo>
                <a:cubicBezTo>
                  <a:pt x="218867" y="486088"/>
                  <a:pt x="235550" y="476756"/>
                  <a:pt x="240169" y="460732"/>
                </a:cubicBezTo>
                <a:lnTo>
                  <a:pt x="360819" y="38457"/>
                </a:lnTo>
                <a:cubicBezTo>
                  <a:pt x="365438" y="22433"/>
                  <a:pt x="356106" y="5750"/>
                  <a:pt x="340082" y="1131"/>
                </a:cubicBezTo>
                <a:close/>
                <a:moveTo>
                  <a:pt x="400973" y="129416"/>
                </a:moveTo>
                <a:cubicBezTo>
                  <a:pt x="389191" y="141198"/>
                  <a:pt x="389191" y="160333"/>
                  <a:pt x="400973" y="172115"/>
                </a:cubicBezTo>
                <a:lnTo>
                  <a:pt x="470158" y="241300"/>
                </a:lnTo>
                <a:lnTo>
                  <a:pt x="400973" y="310485"/>
                </a:lnTo>
                <a:cubicBezTo>
                  <a:pt x="389191" y="322267"/>
                  <a:pt x="389191" y="341402"/>
                  <a:pt x="400973" y="353184"/>
                </a:cubicBezTo>
                <a:cubicBezTo>
                  <a:pt x="412755" y="364966"/>
                  <a:pt x="431889" y="364966"/>
                  <a:pt x="443672" y="353184"/>
                </a:cubicBezTo>
                <a:lnTo>
                  <a:pt x="534159" y="262697"/>
                </a:lnTo>
                <a:cubicBezTo>
                  <a:pt x="545941" y="250914"/>
                  <a:pt x="545941" y="231780"/>
                  <a:pt x="534159" y="219998"/>
                </a:cubicBezTo>
                <a:lnTo>
                  <a:pt x="443672" y="129510"/>
                </a:lnTo>
                <a:cubicBezTo>
                  <a:pt x="431889" y="117728"/>
                  <a:pt x="412755" y="117728"/>
                  <a:pt x="400973" y="129510"/>
                </a:cubicBezTo>
                <a:close/>
                <a:moveTo>
                  <a:pt x="142047" y="129416"/>
                </a:moveTo>
                <a:cubicBezTo>
                  <a:pt x="130264" y="117634"/>
                  <a:pt x="111130" y="117634"/>
                  <a:pt x="99348" y="129416"/>
                </a:cubicBezTo>
                <a:lnTo>
                  <a:pt x="8860" y="219903"/>
                </a:lnTo>
                <a:cubicBezTo>
                  <a:pt x="-2922" y="231686"/>
                  <a:pt x="-2922" y="250820"/>
                  <a:pt x="8860" y="262602"/>
                </a:cubicBezTo>
                <a:lnTo>
                  <a:pt x="99348" y="353090"/>
                </a:lnTo>
                <a:cubicBezTo>
                  <a:pt x="111130" y="364872"/>
                  <a:pt x="130264" y="364872"/>
                  <a:pt x="142047" y="353090"/>
                </a:cubicBezTo>
                <a:cubicBezTo>
                  <a:pt x="153829" y="341308"/>
                  <a:pt x="153829" y="322173"/>
                  <a:pt x="142047" y="310391"/>
                </a:cubicBezTo>
                <a:lnTo>
                  <a:pt x="72861" y="241300"/>
                </a:lnTo>
                <a:lnTo>
                  <a:pt x="141952" y="172115"/>
                </a:lnTo>
                <a:cubicBezTo>
                  <a:pt x="153734" y="160333"/>
                  <a:pt x="153734" y="141198"/>
                  <a:pt x="141952" y="129416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26000" y="3429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Foundry + Anchor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6000" y="4191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contracts EVM (5 chaînes) et program Solana audités par cabinet tiers.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651000"/>
            <a:ext cx="342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25000" y="2032000"/>
            <a:ext cx="1143000" cy="1143000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16" name="Shape 14"/>
          <p:cNvSpPr/>
          <p:nvPr/>
        </p:nvSpPr>
        <p:spPr>
          <a:xfrm>
            <a:off x="9825038" y="2362200"/>
            <a:ext cx="542925" cy="482600"/>
          </a:xfrm>
          <a:custGeom>
            <a:avLst/>
            <a:gdLst/>
            <a:ahLst/>
            <a:cxnLst/>
            <a:rect l="l" t="t" r="r" b="b"/>
            <a:pathLst>
              <a:path w="542925" h="482600">
                <a:moveTo>
                  <a:pt x="180975" y="90488"/>
                </a:moveTo>
                <a:cubicBezTo>
                  <a:pt x="180975" y="40531"/>
                  <a:pt x="221506" y="0"/>
                  <a:pt x="271463" y="0"/>
                </a:cubicBezTo>
                <a:cubicBezTo>
                  <a:pt x="321419" y="0"/>
                  <a:pt x="361950" y="40531"/>
                  <a:pt x="361950" y="90488"/>
                </a:cubicBezTo>
                <a:lnTo>
                  <a:pt x="361950" y="93881"/>
                </a:lnTo>
                <a:cubicBezTo>
                  <a:pt x="361950" y="108679"/>
                  <a:pt x="349979" y="120650"/>
                  <a:pt x="335181" y="120650"/>
                </a:cubicBezTo>
                <a:lnTo>
                  <a:pt x="207838" y="120650"/>
                </a:lnTo>
                <a:cubicBezTo>
                  <a:pt x="193040" y="120650"/>
                  <a:pt x="181069" y="108679"/>
                  <a:pt x="181069" y="93881"/>
                </a:cubicBezTo>
                <a:lnTo>
                  <a:pt x="181069" y="90488"/>
                </a:lnTo>
                <a:close/>
                <a:moveTo>
                  <a:pt x="506730" y="102552"/>
                </a:moveTo>
                <a:cubicBezTo>
                  <a:pt x="516721" y="115843"/>
                  <a:pt x="513988" y="134789"/>
                  <a:pt x="500698" y="144780"/>
                </a:cubicBezTo>
                <a:lnTo>
                  <a:pt x="408513" y="213871"/>
                </a:lnTo>
                <a:cubicBezTo>
                  <a:pt x="413509" y="222260"/>
                  <a:pt x="417279" y="231497"/>
                  <a:pt x="419636" y="241300"/>
                </a:cubicBezTo>
                <a:lnTo>
                  <a:pt x="512762" y="241300"/>
                </a:lnTo>
                <a:cubicBezTo>
                  <a:pt x="529446" y="241300"/>
                  <a:pt x="542925" y="254779"/>
                  <a:pt x="542925" y="271463"/>
                </a:cubicBezTo>
                <a:cubicBezTo>
                  <a:pt x="542925" y="288146"/>
                  <a:pt x="529446" y="301625"/>
                  <a:pt x="512762" y="301625"/>
                </a:cubicBezTo>
                <a:lnTo>
                  <a:pt x="422275" y="301625"/>
                </a:lnTo>
                <a:lnTo>
                  <a:pt x="422275" y="331788"/>
                </a:lnTo>
                <a:cubicBezTo>
                  <a:pt x="422275" y="334238"/>
                  <a:pt x="422181" y="336783"/>
                  <a:pt x="422086" y="339234"/>
                </a:cubicBezTo>
                <a:lnTo>
                  <a:pt x="500698" y="398145"/>
                </a:lnTo>
                <a:cubicBezTo>
                  <a:pt x="513988" y="408136"/>
                  <a:pt x="516721" y="427082"/>
                  <a:pt x="506730" y="440373"/>
                </a:cubicBezTo>
                <a:cubicBezTo>
                  <a:pt x="496739" y="453663"/>
                  <a:pt x="477793" y="456396"/>
                  <a:pt x="464503" y="446405"/>
                </a:cubicBezTo>
                <a:lnTo>
                  <a:pt x="405026" y="401821"/>
                </a:lnTo>
                <a:cubicBezTo>
                  <a:pt x="383158" y="443483"/>
                  <a:pt x="342344" y="473646"/>
                  <a:pt x="294084" y="480903"/>
                </a:cubicBezTo>
                <a:lnTo>
                  <a:pt x="294084" y="263922"/>
                </a:lnTo>
                <a:cubicBezTo>
                  <a:pt x="294084" y="251386"/>
                  <a:pt x="283999" y="241300"/>
                  <a:pt x="271463" y="241300"/>
                </a:cubicBezTo>
                <a:cubicBezTo>
                  <a:pt x="258926" y="241300"/>
                  <a:pt x="248841" y="251386"/>
                  <a:pt x="248841" y="263922"/>
                </a:cubicBezTo>
                <a:lnTo>
                  <a:pt x="248841" y="480903"/>
                </a:lnTo>
                <a:cubicBezTo>
                  <a:pt x="200581" y="473646"/>
                  <a:pt x="159767" y="443483"/>
                  <a:pt x="137899" y="401821"/>
                </a:cubicBezTo>
                <a:lnTo>
                  <a:pt x="78423" y="446405"/>
                </a:lnTo>
                <a:cubicBezTo>
                  <a:pt x="65132" y="456396"/>
                  <a:pt x="46186" y="453663"/>
                  <a:pt x="36195" y="440373"/>
                </a:cubicBezTo>
                <a:cubicBezTo>
                  <a:pt x="26204" y="427082"/>
                  <a:pt x="28937" y="408136"/>
                  <a:pt x="42228" y="398145"/>
                </a:cubicBezTo>
                <a:lnTo>
                  <a:pt x="120839" y="339234"/>
                </a:lnTo>
                <a:cubicBezTo>
                  <a:pt x="120744" y="336783"/>
                  <a:pt x="120650" y="334332"/>
                  <a:pt x="120650" y="331788"/>
                </a:cubicBezTo>
                <a:lnTo>
                  <a:pt x="120650" y="301625"/>
                </a:lnTo>
                <a:lnTo>
                  <a:pt x="30163" y="301625"/>
                </a:lnTo>
                <a:cubicBezTo>
                  <a:pt x="13479" y="301625"/>
                  <a:pt x="0" y="288146"/>
                  <a:pt x="0" y="271463"/>
                </a:cubicBezTo>
                <a:cubicBezTo>
                  <a:pt x="0" y="254779"/>
                  <a:pt x="13479" y="241300"/>
                  <a:pt x="30163" y="241300"/>
                </a:cubicBezTo>
                <a:lnTo>
                  <a:pt x="123289" y="241300"/>
                </a:lnTo>
                <a:cubicBezTo>
                  <a:pt x="125646" y="231497"/>
                  <a:pt x="129416" y="222260"/>
                  <a:pt x="134412" y="213871"/>
                </a:cubicBezTo>
                <a:lnTo>
                  <a:pt x="42228" y="144780"/>
                </a:lnTo>
                <a:cubicBezTo>
                  <a:pt x="28937" y="134789"/>
                  <a:pt x="26204" y="115843"/>
                  <a:pt x="36195" y="102552"/>
                </a:cubicBezTo>
                <a:cubicBezTo>
                  <a:pt x="46186" y="89262"/>
                  <a:pt x="65132" y="86529"/>
                  <a:pt x="78422" y="96520"/>
                </a:cubicBezTo>
                <a:lnTo>
                  <a:pt x="180975" y="173434"/>
                </a:lnTo>
                <a:cubicBezTo>
                  <a:pt x="192569" y="168627"/>
                  <a:pt x="205294" y="165894"/>
                  <a:pt x="218678" y="165894"/>
                </a:cubicBezTo>
                <a:lnTo>
                  <a:pt x="324247" y="165894"/>
                </a:lnTo>
                <a:cubicBezTo>
                  <a:pt x="337631" y="165894"/>
                  <a:pt x="350356" y="168533"/>
                  <a:pt x="361950" y="173434"/>
                </a:cubicBezTo>
                <a:lnTo>
                  <a:pt x="464503" y="96520"/>
                </a:lnTo>
                <a:cubicBezTo>
                  <a:pt x="477793" y="86529"/>
                  <a:pt x="496739" y="89262"/>
                  <a:pt x="506730" y="10255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3429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bounty pré-mainnet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4191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Programme de récompense ouvert à la communauté white-hat avant le déploiement mainnet.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192000" y="1651000"/>
            <a:ext cx="3302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271500" y="2032000"/>
            <a:ext cx="1143000" cy="1143000"/>
          </a:xfrm>
          <a:prstGeom prst="ellipse">
            <a:avLst/>
          </a:prstGeom>
          <a:solidFill>
            <a:srgbClr val="22C55E">
              <a:alpha val="12549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601700" y="23622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218678" y="0"/>
                </a:moveTo>
                <a:cubicBezTo>
                  <a:pt x="364401" y="0"/>
                  <a:pt x="482600" y="118199"/>
                  <a:pt x="482600" y="263922"/>
                </a:cubicBezTo>
                <a:cubicBezTo>
                  <a:pt x="482600" y="276458"/>
                  <a:pt x="472514" y="286544"/>
                  <a:pt x="459978" y="286544"/>
                </a:cubicBezTo>
                <a:cubicBezTo>
                  <a:pt x="447442" y="286544"/>
                  <a:pt x="437356" y="276458"/>
                  <a:pt x="437356" y="263922"/>
                </a:cubicBezTo>
                <a:cubicBezTo>
                  <a:pt x="437356" y="143178"/>
                  <a:pt x="339422" y="45244"/>
                  <a:pt x="218678" y="45244"/>
                </a:cubicBezTo>
                <a:cubicBezTo>
                  <a:pt x="206142" y="45244"/>
                  <a:pt x="196056" y="35158"/>
                  <a:pt x="196056" y="22622"/>
                </a:cubicBezTo>
                <a:cubicBezTo>
                  <a:pt x="196056" y="10086"/>
                  <a:pt x="206142" y="0"/>
                  <a:pt x="218678" y="0"/>
                </a:cubicBezTo>
                <a:close/>
                <a:moveTo>
                  <a:pt x="196056" y="113109"/>
                </a:moveTo>
                <a:cubicBezTo>
                  <a:pt x="196056" y="100573"/>
                  <a:pt x="206142" y="90488"/>
                  <a:pt x="218678" y="90488"/>
                </a:cubicBezTo>
                <a:cubicBezTo>
                  <a:pt x="314444" y="90488"/>
                  <a:pt x="392113" y="168156"/>
                  <a:pt x="392113" y="263922"/>
                </a:cubicBezTo>
                <a:cubicBezTo>
                  <a:pt x="392113" y="276458"/>
                  <a:pt x="382027" y="286544"/>
                  <a:pt x="369491" y="286544"/>
                </a:cubicBezTo>
                <a:cubicBezTo>
                  <a:pt x="356954" y="286544"/>
                  <a:pt x="346869" y="276458"/>
                  <a:pt x="346869" y="263922"/>
                </a:cubicBezTo>
                <a:cubicBezTo>
                  <a:pt x="346869" y="193134"/>
                  <a:pt x="289466" y="135731"/>
                  <a:pt x="218678" y="135731"/>
                </a:cubicBezTo>
                <a:cubicBezTo>
                  <a:pt x="206142" y="135731"/>
                  <a:pt x="196056" y="125646"/>
                  <a:pt x="196056" y="113109"/>
                </a:cubicBezTo>
                <a:close/>
                <a:moveTo>
                  <a:pt x="24884" y="134506"/>
                </a:moveTo>
                <a:cubicBezTo>
                  <a:pt x="33179" y="117634"/>
                  <a:pt x="55424" y="115749"/>
                  <a:pt x="68714" y="129039"/>
                </a:cubicBezTo>
                <a:lnTo>
                  <a:pt x="189835" y="250160"/>
                </a:lnTo>
                <a:lnTo>
                  <a:pt x="219998" y="219998"/>
                </a:lnTo>
                <a:cubicBezTo>
                  <a:pt x="231780" y="208216"/>
                  <a:pt x="250914" y="208216"/>
                  <a:pt x="262697" y="219998"/>
                </a:cubicBezTo>
                <a:cubicBezTo>
                  <a:pt x="274479" y="231780"/>
                  <a:pt x="274479" y="250914"/>
                  <a:pt x="262697" y="262697"/>
                </a:cubicBezTo>
                <a:lnTo>
                  <a:pt x="232534" y="292859"/>
                </a:lnTo>
                <a:lnTo>
                  <a:pt x="353655" y="413980"/>
                </a:lnTo>
                <a:cubicBezTo>
                  <a:pt x="366946" y="427271"/>
                  <a:pt x="364966" y="449421"/>
                  <a:pt x="348188" y="457810"/>
                </a:cubicBezTo>
                <a:cubicBezTo>
                  <a:pt x="315952" y="473740"/>
                  <a:pt x="279757" y="482694"/>
                  <a:pt x="241394" y="482694"/>
                </a:cubicBezTo>
                <a:cubicBezTo>
                  <a:pt x="108114" y="482694"/>
                  <a:pt x="94" y="374675"/>
                  <a:pt x="94" y="241394"/>
                </a:cubicBezTo>
                <a:cubicBezTo>
                  <a:pt x="94" y="203031"/>
                  <a:pt x="9049" y="166742"/>
                  <a:pt x="24978" y="1346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34290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temps réel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41910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Prometheus/Grafana on-chain, alertes PagerDuty, heartbeat par chaîne.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350000"/>
            <a:ext cx="14732000" cy="4445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350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Keystore HSM / AWS KMS · Sandboxing LLM · Rotation de clés multisig · Pas de base de données centralisée sensible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MVP — 12 mois, 3 vagues, mainnet sécurisé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0000" y="3556000"/>
            <a:ext cx="13716000" cy="0"/>
          </a:xfrm>
          <a:prstGeom prst="straightConnector1">
            <a:avLst/>
          </a:prstGeom>
          <a:noFill/>
          <a:ln w="38100">
            <a:solidFill>
              <a:srgbClr val="1E3A8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78000" y="3429000"/>
            <a:ext cx="254000" cy="2540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429000"/>
            <a:ext cx="254000" cy="2540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11938000" y="3429000"/>
            <a:ext cx="254000" cy="2540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3970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397000"/>
            <a:ext cx="4318000" cy="406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3970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VAGUE 0-1 — MOIS 1-4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190500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EVM Testnet (5 chaînes)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Parsing langage naturel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Circuits ZK (Noir)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Vault Solidity + verifier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42000" y="13970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ED7AA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42000" y="1397000"/>
            <a:ext cx="4318000" cy="406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000" y="13970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VAGUE 2 — MOIS 5-8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190500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Solana Devnet (Anchor)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Intégration MEV Jito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Frontend React + wallets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Orchestrateur multi-chain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1397000"/>
            <a:ext cx="4572000" cy="1968500"/>
          </a:xfrm>
          <a:prstGeom prst="roundRect">
            <a:avLst>
              <a:gd name="adj" fmla="val 8000"/>
            </a:avLst>
          </a:prstGeom>
          <a:solidFill>
            <a:srgbClr val="22C55E">
              <a:alpha val="12549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2000" y="1397000"/>
            <a:ext cx="4572000" cy="406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1397000"/>
            <a:ext cx="457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VAGUE 3 — MOIS 9-12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1905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Mainnet sécurisé (6 chaînes)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 externe complet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Bug bounty communautaire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Marketplace agents (basic)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3810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Délégation signée fonctionnelle sur testnet EVM avec preuve ZK validée.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42000" y="3810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Exécution cross-chain EVM↔Solana avec capture MEV et reversement.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0" y="3810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Déploiement mainnet audité, 1000 utilisateurs testnet, premiers partenariats.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0800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6000" y="527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Contraintes temporelles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5715000"/>
            <a:ext cx="1422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Vague 0-1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Architecture hexagonale, parsing NL, circuits ZK base, vault EVM testnet (Goerli/Sepolia)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Vague 2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Adapter Solana, intégration Jito bundles, frontend complet, orchestrateur state-machine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Vague 3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Audit formel + externe, bug bounty, déploiement mainnet progressif par chaîne, marketplace basic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strict MVP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Pas de mobile app, pas de governance token, pas de FHE — focus sécurité et core features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355 jours-homme — Charge cohérente avec l'équipe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3810000" cy="15240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jours-homme total 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Cohérent avec 4 personnes × 12 mois à 70% productivité moyenne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0000" y="1397000"/>
          <a:ext cx="10414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4572000"/>
            <a:ext cx="4064000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6000" y="4699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Répartition détaillée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" y="5143500"/>
            <a:ext cx="355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&amp; Setup : 20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Intent Parsing &amp; LLM : 40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Circuits ZK : 50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Smart Contracts EVM : 50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 Solana : 40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API : 55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Frontend DApp : 45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QA, audit interne : 35 jh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DevOps, CI/CD : 20 jh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prévisionnel — ~317 k€ pour un MVP sécurisé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3556000" cy="15240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317 k€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total MVP 12 mois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26000" y="1397000"/>
          <a:ext cx="4064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8000" y="1397000"/>
          <a:ext cx="6096000" cy="4064000"/>
        </p:xfrm>
        <a:graphic>
          <a:graphicData uri="http://schemas.openxmlformats.org/drawingml/2006/table">
            <a:tbl>
              <a:tblPr/>
              <a:tblGrid>
                <a:gridCol w="2743200"/>
                <a:gridCol w="1524000"/>
                <a:gridCol w="182880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Montant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Développement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160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3A8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Audit sécurité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Fonds roulement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45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B5CF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Juridique &amp; Conformité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B92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Marketing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Logiciels &amp; Outils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 k€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Justification : le poste développement est cohérent avec la charge (355 jh × 450€/jh). L'audit est multiplié par le nombre de chaînes (6). L'infrastructure reste maîtrisée grâce au LLM local (pas de facturation API à l'usage).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Comparatif concurrentiel — Otter vs Gelato vs UniswapX vs Jupiter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096000"/>
        </p:xfrm>
        <a:graphic>
          <a:graphicData uri="http://schemas.openxmlformats.org/drawingml/2006/table">
            <a:tbl>
              <a:tblPr/>
              <a:tblGrid>
                <a:gridCol w="3241040"/>
                <a:gridCol w="2872740"/>
                <a:gridCol w="2872740"/>
                <a:gridCol w="2872740"/>
                <a:gridCol w="2872740"/>
              </a:tblGrid>
              <a:tr h="59565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Critère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1E3A8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Otter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Gelato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UniswapX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Jupiter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Multi-chain EVM+Solana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EVM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EVM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Solana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Délégation persistante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 Limitée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One-shot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One-shot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Preuve ZK on-chain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Reversement MEV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 Partiel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 Partiel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Langage naturel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Non-custodial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Custodial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8576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Surveillance continue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A8A0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 Task-based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One-shot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One-shot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7874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Otter est le seul à combiner les 7 critères — une barrière technologique différenciante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environnemental — Une DeFi plus verte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76500" y="2032000"/>
            <a:ext cx="1270000" cy="1270000"/>
          </a:xfrm>
          <a:prstGeom prst="ellipse">
            <a:avLst/>
          </a:prstGeom>
          <a:solidFill>
            <a:srgbClr val="22C55E">
              <a:alpha val="1254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06700" y="236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1142" y="7977"/>
                </a:moveTo>
                <a:cubicBezTo>
                  <a:pt x="568762" y="714"/>
                  <a:pt x="579834" y="-1905"/>
                  <a:pt x="590074" y="1429"/>
                </a:cubicBezTo>
                <a:cubicBezTo>
                  <a:pt x="601742" y="5358"/>
                  <a:pt x="609600" y="16312"/>
                  <a:pt x="609600" y="28575"/>
                </a:cubicBezTo>
                <a:lnTo>
                  <a:pt x="609600" y="251103"/>
                </a:lnTo>
                <a:cubicBezTo>
                  <a:pt x="609600" y="407313"/>
                  <a:pt x="480893" y="533400"/>
                  <a:pt x="325279" y="533400"/>
                </a:cubicBezTo>
                <a:cubicBezTo>
                  <a:pt x="233601" y="533400"/>
                  <a:pt x="154543" y="474464"/>
                  <a:pt x="125849" y="392073"/>
                </a:cubicBezTo>
                <a:cubicBezTo>
                  <a:pt x="83701" y="428744"/>
                  <a:pt x="57150" y="482679"/>
                  <a:pt x="57150" y="542925"/>
                </a:cubicBezTo>
                <a:cubicBezTo>
                  <a:pt x="57150" y="558760"/>
                  <a:pt x="44410" y="571500"/>
                  <a:pt x="28575" y="571500"/>
                </a:cubicBezTo>
                <a:cubicBezTo>
                  <a:pt x="12740" y="571500"/>
                  <a:pt x="0" y="558760"/>
                  <a:pt x="0" y="542925"/>
                </a:cubicBezTo>
                <a:cubicBezTo>
                  <a:pt x="0" y="453747"/>
                  <a:pt x="45482" y="375166"/>
                  <a:pt x="114419" y="328970"/>
                </a:cubicBezTo>
                <a:cubicBezTo>
                  <a:pt x="156448" y="300871"/>
                  <a:pt x="206573" y="285750"/>
                  <a:pt x="257175" y="285750"/>
                </a:cubicBezTo>
                <a:lnTo>
                  <a:pt x="352425" y="285750"/>
                </a:lnTo>
                <a:cubicBezTo>
                  <a:pt x="368260" y="285750"/>
                  <a:pt x="381000" y="273010"/>
                  <a:pt x="381000" y="257175"/>
                </a:cubicBezTo>
                <a:cubicBezTo>
                  <a:pt x="381000" y="241340"/>
                  <a:pt x="368260" y="228600"/>
                  <a:pt x="352425" y="228600"/>
                </a:cubicBezTo>
                <a:lnTo>
                  <a:pt x="257175" y="228600"/>
                </a:lnTo>
                <a:cubicBezTo>
                  <a:pt x="209907" y="228600"/>
                  <a:pt x="165140" y="239078"/>
                  <a:pt x="125016" y="257770"/>
                </a:cubicBezTo>
                <a:cubicBezTo>
                  <a:pt x="152757" y="174427"/>
                  <a:pt x="231219" y="114300"/>
                  <a:pt x="323850" y="114300"/>
                </a:cubicBezTo>
                <a:cubicBezTo>
                  <a:pt x="402907" y="114300"/>
                  <a:pt x="461724" y="87987"/>
                  <a:pt x="500896" y="61912"/>
                </a:cubicBezTo>
                <a:cubicBezTo>
                  <a:pt x="523756" y="46673"/>
                  <a:pt x="543163" y="28456"/>
                  <a:pt x="561261" y="797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55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local, pas de cloud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064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llama.cpp sur serveur dédié. Modèle GGUF 4GB quantifié. Aucun appel API vers des datacenters énergivores.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651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3000" y="2032000"/>
            <a:ext cx="1270000" cy="1270000"/>
          </a:xfrm>
          <a:prstGeom prst="ellipse">
            <a:avLst/>
          </a:prstGeom>
          <a:solidFill>
            <a:srgbClr val="22C55E">
              <a:alpha val="12549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61300" y="23622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403384" y="-11787"/>
                </a:moveTo>
                <a:cubicBezTo>
                  <a:pt x="417552" y="-1548"/>
                  <a:pt x="422791" y="17026"/>
                  <a:pt x="416362" y="33218"/>
                </a:cubicBezTo>
                <a:lnTo>
                  <a:pt x="323017" y="266700"/>
                </a:lnTo>
                <a:lnTo>
                  <a:pt x="495300" y="266700"/>
                </a:lnTo>
                <a:cubicBezTo>
                  <a:pt x="511373" y="266700"/>
                  <a:pt x="525661" y="276701"/>
                  <a:pt x="531138" y="291822"/>
                </a:cubicBezTo>
                <a:cubicBezTo>
                  <a:pt x="536615" y="306943"/>
                  <a:pt x="531971" y="323850"/>
                  <a:pt x="519708" y="334089"/>
                </a:cubicBezTo>
                <a:lnTo>
                  <a:pt x="176808" y="619839"/>
                </a:lnTo>
                <a:cubicBezTo>
                  <a:pt x="163354" y="631031"/>
                  <a:pt x="144185" y="631627"/>
                  <a:pt x="130016" y="621387"/>
                </a:cubicBezTo>
                <a:cubicBezTo>
                  <a:pt x="115848" y="611148"/>
                  <a:pt x="110609" y="592574"/>
                  <a:pt x="117038" y="576382"/>
                </a:cubicBezTo>
                <a:lnTo>
                  <a:pt x="210383" y="342900"/>
                </a:lnTo>
                <a:lnTo>
                  <a:pt x="38100" y="342900"/>
                </a:lnTo>
                <a:cubicBezTo>
                  <a:pt x="22027" y="342900"/>
                  <a:pt x="7739" y="332899"/>
                  <a:pt x="2262" y="317778"/>
                </a:cubicBezTo>
                <a:cubicBezTo>
                  <a:pt x="-3215" y="302657"/>
                  <a:pt x="1429" y="285750"/>
                  <a:pt x="13692" y="275511"/>
                </a:cubicBezTo>
                <a:lnTo>
                  <a:pt x="356592" y="-10239"/>
                </a:lnTo>
                <a:cubicBezTo>
                  <a:pt x="370046" y="-21431"/>
                  <a:pt x="389215" y="-22027"/>
                  <a:pt x="403384" y="-1178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355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 EVM + Solana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4064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Réduction de 90% de la consommation énergétique par transaction vs Ethereum L1. Solana PoH+PoS = consensus efficient.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651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509500" y="2032000"/>
            <a:ext cx="1270000" cy="1270000"/>
          </a:xfrm>
          <a:prstGeom prst="ellipse">
            <a:avLst/>
          </a:prstGeom>
          <a:solidFill>
            <a:srgbClr val="22C55E">
              <a:alpha val="12549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839700" y="236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9550" y="28575"/>
                </a:moveTo>
                <a:cubicBezTo>
                  <a:pt x="209550" y="12740"/>
                  <a:pt x="196810" y="0"/>
                  <a:pt x="180975" y="0"/>
                </a:cubicBezTo>
                <a:cubicBezTo>
                  <a:pt x="165140" y="0"/>
                  <a:pt x="152400" y="12740"/>
                  <a:pt x="152400" y="28575"/>
                </a:cubicBezTo>
                <a:lnTo>
                  <a:pt x="152400" y="76200"/>
                </a:lnTo>
                <a:cubicBezTo>
                  <a:pt x="110371" y="76200"/>
                  <a:pt x="76200" y="110371"/>
                  <a:pt x="76200" y="152400"/>
                </a:cubicBezTo>
                <a:lnTo>
                  <a:pt x="28575" y="152400"/>
                </a:lnTo>
                <a:cubicBezTo>
                  <a:pt x="12740" y="152400"/>
                  <a:pt x="0" y="165140"/>
                  <a:pt x="0" y="180975"/>
                </a:cubicBezTo>
                <a:cubicBezTo>
                  <a:pt x="0" y="196810"/>
                  <a:pt x="12740" y="209550"/>
                  <a:pt x="28575" y="209550"/>
                </a:cubicBezTo>
                <a:lnTo>
                  <a:pt x="76200" y="209550"/>
                </a:lnTo>
                <a:lnTo>
                  <a:pt x="76200" y="276225"/>
                </a:lnTo>
                <a:lnTo>
                  <a:pt x="28575" y="276225"/>
                </a:lnTo>
                <a:cubicBezTo>
                  <a:pt x="12740" y="276225"/>
                  <a:pt x="0" y="288965"/>
                  <a:pt x="0" y="304800"/>
                </a:cubicBezTo>
                <a:cubicBezTo>
                  <a:pt x="0" y="320635"/>
                  <a:pt x="12740" y="333375"/>
                  <a:pt x="28575" y="333375"/>
                </a:cubicBezTo>
                <a:lnTo>
                  <a:pt x="76200" y="333375"/>
                </a:lnTo>
                <a:lnTo>
                  <a:pt x="76200" y="400050"/>
                </a:lnTo>
                <a:lnTo>
                  <a:pt x="28575" y="400050"/>
                </a:lnTo>
                <a:cubicBezTo>
                  <a:pt x="12740" y="400050"/>
                  <a:pt x="0" y="412790"/>
                  <a:pt x="0" y="428625"/>
                </a:cubicBezTo>
                <a:cubicBezTo>
                  <a:pt x="0" y="444460"/>
                  <a:pt x="12740" y="457200"/>
                  <a:pt x="28575" y="457200"/>
                </a:cubicBezTo>
                <a:lnTo>
                  <a:pt x="76200" y="457200"/>
                </a:lnTo>
                <a:cubicBezTo>
                  <a:pt x="76200" y="499229"/>
                  <a:pt x="110371" y="533400"/>
                  <a:pt x="152400" y="533400"/>
                </a:cubicBezTo>
                <a:lnTo>
                  <a:pt x="152400" y="581025"/>
                </a:lnTo>
                <a:cubicBezTo>
                  <a:pt x="152400" y="596860"/>
                  <a:pt x="165140" y="609600"/>
                  <a:pt x="180975" y="609600"/>
                </a:cubicBezTo>
                <a:cubicBezTo>
                  <a:pt x="196810" y="609600"/>
                  <a:pt x="209550" y="596860"/>
                  <a:pt x="209550" y="581025"/>
                </a:cubicBezTo>
                <a:lnTo>
                  <a:pt x="209550" y="533400"/>
                </a:lnTo>
                <a:lnTo>
                  <a:pt x="276225" y="533400"/>
                </a:lnTo>
                <a:lnTo>
                  <a:pt x="276225" y="581025"/>
                </a:lnTo>
                <a:cubicBezTo>
                  <a:pt x="276225" y="596860"/>
                  <a:pt x="288965" y="609600"/>
                  <a:pt x="304800" y="609600"/>
                </a:cubicBezTo>
                <a:cubicBezTo>
                  <a:pt x="320635" y="609600"/>
                  <a:pt x="333375" y="596860"/>
                  <a:pt x="333375" y="581025"/>
                </a:cubicBezTo>
                <a:lnTo>
                  <a:pt x="333375" y="533400"/>
                </a:lnTo>
                <a:lnTo>
                  <a:pt x="400050" y="533400"/>
                </a:lnTo>
                <a:lnTo>
                  <a:pt x="400050" y="581025"/>
                </a:lnTo>
                <a:cubicBezTo>
                  <a:pt x="400050" y="596860"/>
                  <a:pt x="412790" y="609600"/>
                  <a:pt x="428625" y="609600"/>
                </a:cubicBezTo>
                <a:cubicBezTo>
                  <a:pt x="444460" y="609600"/>
                  <a:pt x="457200" y="596860"/>
                  <a:pt x="457200" y="581025"/>
                </a:cubicBezTo>
                <a:lnTo>
                  <a:pt x="457200" y="533400"/>
                </a:lnTo>
                <a:cubicBezTo>
                  <a:pt x="499229" y="533400"/>
                  <a:pt x="533400" y="499229"/>
                  <a:pt x="533400" y="457200"/>
                </a:cubicBezTo>
                <a:lnTo>
                  <a:pt x="581025" y="457200"/>
                </a:lnTo>
                <a:cubicBezTo>
                  <a:pt x="596860" y="457200"/>
                  <a:pt x="609600" y="444460"/>
                  <a:pt x="609600" y="428625"/>
                </a:cubicBezTo>
                <a:cubicBezTo>
                  <a:pt x="609600" y="412790"/>
                  <a:pt x="596860" y="400050"/>
                  <a:pt x="581025" y="400050"/>
                </a:cubicBezTo>
                <a:lnTo>
                  <a:pt x="533400" y="400050"/>
                </a:lnTo>
                <a:lnTo>
                  <a:pt x="533400" y="333375"/>
                </a:lnTo>
                <a:lnTo>
                  <a:pt x="581025" y="333375"/>
                </a:lnTo>
                <a:cubicBezTo>
                  <a:pt x="596860" y="333375"/>
                  <a:pt x="609600" y="320635"/>
                  <a:pt x="609600" y="304800"/>
                </a:cubicBezTo>
                <a:cubicBezTo>
                  <a:pt x="609600" y="288965"/>
                  <a:pt x="596860" y="276225"/>
                  <a:pt x="581025" y="276225"/>
                </a:cubicBezTo>
                <a:lnTo>
                  <a:pt x="533400" y="276225"/>
                </a:lnTo>
                <a:lnTo>
                  <a:pt x="533400" y="209550"/>
                </a:lnTo>
                <a:lnTo>
                  <a:pt x="581025" y="209550"/>
                </a:lnTo>
                <a:cubicBezTo>
                  <a:pt x="596860" y="209550"/>
                  <a:pt x="609600" y="196810"/>
                  <a:pt x="609600" y="180975"/>
                </a:cubicBezTo>
                <a:cubicBezTo>
                  <a:pt x="609600" y="165140"/>
                  <a:pt x="596860" y="152400"/>
                  <a:pt x="581025" y="152400"/>
                </a:cubicBezTo>
                <a:lnTo>
                  <a:pt x="533400" y="152400"/>
                </a:lnTo>
                <a:cubicBezTo>
                  <a:pt x="533400" y="110371"/>
                  <a:pt x="499229" y="76200"/>
                  <a:pt x="457200" y="76200"/>
                </a:cubicBezTo>
                <a:lnTo>
                  <a:pt x="457200" y="28575"/>
                </a:lnTo>
                <a:cubicBezTo>
                  <a:pt x="457200" y="12740"/>
                  <a:pt x="444460" y="0"/>
                  <a:pt x="428625" y="0"/>
                </a:cubicBezTo>
                <a:cubicBezTo>
                  <a:pt x="412790" y="0"/>
                  <a:pt x="400050" y="12740"/>
                  <a:pt x="400050" y="28575"/>
                </a:cubicBezTo>
                <a:lnTo>
                  <a:pt x="400050" y="76200"/>
                </a:lnTo>
                <a:lnTo>
                  <a:pt x="333375" y="76200"/>
                </a:lnTo>
                <a:lnTo>
                  <a:pt x="333375" y="28575"/>
                </a:lnTo>
                <a:cubicBezTo>
                  <a:pt x="333375" y="12740"/>
                  <a:pt x="320635" y="0"/>
                  <a:pt x="304800" y="0"/>
                </a:cubicBezTo>
                <a:cubicBezTo>
                  <a:pt x="288965" y="0"/>
                  <a:pt x="276225" y="12740"/>
                  <a:pt x="276225" y="28575"/>
                </a:cubicBezTo>
                <a:lnTo>
                  <a:pt x="276225" y="76200"/>
                </a:lnTo>
                <a:lnTo>
                  <a:pt x="209550" y="76200"/>
                </a:lnTo>
                <a:lnTo>
                  <a:pt x="209550" y="28575"/>
                </a:lnTo>
                <a:close/>
                <a:moveTo>
                  <a:pt x="190500" y="152400"/>
                </a:moveTo>
                <a:lnTo>
                  <a:pt x="419100" y="152400"/>
                </a:lnTo>
                <a:cubicBezTo>
                  <a:pt x="440174" y="152400"/>
                  <a:pt x="457200" y="169426"/>
                  <a:pt x="457200" y="190500"/>
                </a:cubicBezTo>
                <a:lnTo>
                  <a:pt x="457200" y="419100"/>
                </a:lnTo>
                <a:cubicBezTo>
                  <a:pt x="457200" y="440174"/>
                  <a:pt x="440174" y="457200"/>
                  <a:pt x="419100" y="457200"/>
                </a:cubicBezTo>
                <a:lnTo>
                  <a:pt x="190500" y="457200"/>
                </a:lnTo>
                <a:cubicBezTo>
                  <a:pt x="169426" y="457200"/>
                  <a:pt x="152400" y="440174"/>
                  <a:pt x="152400" y="419100"/>
                </a:cubicBezTo>
                <a:lnTo>
                  <a:pt x="152400" y="190500"/>
                </a:lnTo>
                <a:cubicBezTo>
                  <a:pt x="152400" y="169426"/>
                  <a:pt x="169426" y="152400"/>
                  <a:pt x="190500" y="152400"/>
                </a:cubicBezTo>
                <a:close/>
                <a:moveTo>
                  <a:pt x="209550" y="209550"/>
                </a:moveTo>
                <a:lnTo>
                  <a:pt x="209550" y="400050"/>
                </a:lnTo>
                <a:lnTo>
                  <a:pt x="400050" y="400050"/>
                </a:lnTo>
                <a:lnTo>
                  <a:pt x="400050" y="209550"/>
                </a:lnTo>
                <a:lnTo>
                  <a:pt x="209550" y="209550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3556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Circuits ZK compacts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4064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1000 contraintes par preuve. Charge de calcul serveur minimisée. Noir optimise la taille des preuves.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6350000"/>
            <a:ext cx="7112000" cy="6350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6350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Conformité RSE — Empreinte carbone maîtrisée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Veille &amp; Évolutivité — Anticiper 2026 et au-delà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de veille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8033" y="315436"/>
                </a:moveTo>
                <a:cubicBezTo>
                  <a:pt x="138033" y="317024"/>
                  <a:pt x="136208" y="318294"/>
                  <a:pt x="133906" y="318294"/>
                </a:cubicBezTo>
                <a:cubicBezTo>
                  <a:pt x="131286" y="318532"/>
                  <a:pt x="129461" y="317262"/>
                  <a:pt x="129461" y="315436"/>
                </a:cubicBezTo>
                <a:cubicBezTo>
                  <a:pt x="129461" y="313849"/>
                  <a:pt x="131286" y="312579"/>
                  <a:pt x="133588" y="312579"/>
                </a:cubicBezTo>
                <a:cubicBezTo>
                  <a:pt x="135969" y="312341"/>
                  <a:pt x="138033" y="313611"/>
                  <a:pt x="138033" y="315436"/>
                </a:cubicBezTo>
                <a:close/>
                <a:moveTo>
                  <a:pt x="113348" y="311864"/>
                </a:moveTo>
                <a:cubicBezTo>
                  <a:pt x="112792" y="313452"/>
                  <a:pt x="114379" y="315278"/>
                  <a:pt x="116761" y="315754"/>
                </a:cubicBezTo>
                <a:cubicBezTo>
                  <a:pt x="118824" y="316547"/>
                  <a:pt x="121206" y="315754"/>
                  <a:pt x="121682" y="314166"/>
                </a:cubicBezTo>
                <a:cubicBezTo>
                  <a:pt x="122158" y="312579"/>
                  <a:pt x="120650" y="310753"/>
                  <a:pt x="118269" y="310039"/>
                </a:cubicBezTo>
                <a:cubicBezTo>
                  <a:pt x="116205" y="309483"/>
                  <a:pt x="113903" y="310277"/>
                  <a:pt x="113348" y="311864"/>
                </a:cubicBezTo>
                <a:close/>
                <a:moveTo>
                  <a:pt x="148431" y="310515"/>
                </a:moveTo>
                <a:cubicBezTo>
                  <a:pt x="146129" y="311071"/>
                  <a:pt x="144542" y="312579"/>
                  <a:pt x="144780" y="314404"/>
                </a:cubicBezTo>
                <a:cubicBezTo>
                  <a:pt x="145018" y="315992"/>
                  <a:pt x="147082" y="317024"/>
                  <a:pt x="149463" y="316468"/>
                </a:cubicBezTo>
                <a:cubicBezTo>
                  <a:pt x="151765" y="315913"/>
                  <a:pt x="153353" y="314404"/>
                  <a:pt x="153114" y="312817"/>
                </a:cubicBezTo>
                <a:cubicBezTo>
                  <a:pt x="152876" y="311309"/>
                  <a:pt x="150733" y="310277"/>
                  <a:pt x="148431" y="310515"/>
                </a:cubicBezTo>
                <a:close/>
                <a:moveTo>
                  <a:pt x="200660" y="6350"/>
                </a:moveTo>
                <a:cubicBezTo>
                  <a:pt x="90567" y="6350"/>
                  <a:pt x="6350" y="89932"/>
                  <a:pt x="6350" y="200025"/>
                </a:cubicBezTo>
                <a:cubicBezTo>
                  <a:pt x="6350" y="288052"/>
                  <a:pt x="61754" y="363379"/>
                  <a:pt x="140891" y="389890"/>
                </a:cubicBezTo>
                <a:cubicBezTo>
                  <a:pt x="151051" y="391716"/>
                  <a:pt x="154623" y="385445"/>
                  <a:pt x="154623" y="380286"/>
                </a:cubicBezTo>
                <a:cubicBezTo>
                  <a:pt x="154623" y="375364"/>
                  <a:pt x="154384" y="348218"/>
                  <a:pt x="154384" y="331549"/>
                </a:cubicBezTo>
                <a:cubicBezTo>
                  <a:pt x="154384" y="331549"/>
                  <a:pt x="98822" y="343456"/>
                  <a:pt x="87154" y="307896"/>
                </a:cubicBezTo>
                <a:cubicBezTo>
                  <a:pt x="87154" y="307896"/>
                  <a:pt x="78105" y="284797"/>
                  <a:pt x="65088" y="278844"/>
                </a:cubicBezTo>
                <a:cubicBezTo>
                  <a:pt x="65088" y="278844"/>
                  <a:pt x="46911" y="266382"/>
                  <a:pt x="66357" y="266621"/>
                </a:cubicBezTo>
                <a:cubicBezTo>
                  <a:pt x="66357" y="266621"/>
                  <a:pt x="86122" y="268208"/>
                  <a:pt x="96996" y="287099"/>
                </a:cubicBezTo>
                <a:cubicBezTo>
                  <a:pt x="114379" y="317738"/>
                  <a:pt x="143510" y="308927"/>
                  <a:pt x="154861" y="303689"/>
                </a:cubicBezTo>
                <a:cubicBezTo>
                  <a:pt x="156686" y="290989"/>
                  <a:pt x="161846" y="282178"/>
                  <a:pt x="167561" y="276939"/>
                </a:cubicBezTo>
                <a:cubicBezTo>
                  <a:pt x="123190" y="272018"/>
                  <a:pt x="78423" y="265589"/>
                  <a:pt x="78423" y="189230"/>
                </a:cubicBezTo>
                <a:cubicBezTo>
                  <a:pt x="78423" y="167402"/>
                  <a:pt x="84455" y="156448"/>
                  <a:pt x="97155" y="142478"/>
                </a:cubicBezTo>
                <a:cubicBezTo>
                  <a:pt x="95091" y="137319"/>
                  <a:pt x="88344" y="116046"/>
                  <a:pt x="99219" y="88582"/>
                </a:cubicBezTo>
                <a:cubicBezTo>
                  <a:pt x="115808" y="83423"/>
                  <a:pt x="153988" y="110014"/>
                  <a:pt x="153988" y="110014"/>
                </a:cubicBezTo>
                <a:cubicBezTo>
                  <a:pt x="169863" y="105569"/>
                  <a:pt x="186928" y="103267"/>
                  <a:pt x="203835" y="103267"/>
                </a:cubicBezTo>
                <a:cubicBezTo>
                  <a:pt x="220742" y="103267"/>
                  <a:pt x="237808" y="105569"/>
                  <a:pt x="253683" y="110014"/>
                </a:cubicBezTo>
                <a:cubicBezTo>
                  <a:pt x="253683" y="110014"/>
                  <a:pt x="291862" y="83344"/>
                  <a:pt x="308451" y="88582"/>
                </a:cubicBezTo>
                <a:cubicBezTo>
                  <a:pt x="319326" y="116126"/>
                  <a:pt x="312579" y="137319"/>
                  <a:pt x="310515" y="142478"/>
                </a:cubicBezTo>
                <a:cubicBezTo>
                  <a:pt x="323215" y="156527"/>
                  <a:pt x="330994" y="167481"/>
                  <a:pt x="330994" y="189230"/>
                </a:cubicBezTo>
                <a:cubicBezTo>
                  <a:pt x="330994" y="265827"/>
                  <a:pt x="284242" y="271939"/>
                  <a:pt x="239871" y="276939"/>
                </a:cubicBezTo>
                <a:cubicBezTo>
                  <a:pt x="247174" y="283210"/>
                  <a:pt x="253365" y="295116"/>
                  <a:pt x="253365" y="313769"/>
                </a:cubicBezTo>
                <a:cubicBezTo>
                  <a:pt x="253365" y="340519"/>
                  <a:pt x="253127" y="373618"/>
                  <a:pt x="253127" y="380127"/>
                </a:cubicBezTo>
                <a:cubicBezTo>
                  <a:pt x="253127" y="385286"/>
                  <a:pt x="256778" y="391557"/>
                  <a:pt x="266859" y="389731"/>
                </a:cubicBezTo>
                <a:cubicBezTo>
                  <a:pt x="346234" y="363379"/>
                  <a:pt x="400050" y="288052"/>
                  <a:pt x="400050" y="200025"/>
                </a:cubicBezTo>
                <a:cubicBezTo>
                  <a:pt x="400050" y="89932"/>
                  <a:pt x="310753" y="6350"/>
                  <a:pt x="200660" y="6350"/>
                </a:cubicBezTo>
                <a:close/>
                <a:moveTo>
                  <a:pt x="83503" y="280114"/>
                </a:moveTo>
                <a:cubicBezTo>
                  <a:pt x="82471" y="280908"/>
                  <a:pt x="82709" y="282734"/>
                  <a:pt x="84058" y="284242"/>
                </a:cubicBezTo>
                <a:cubicBezTo>
                  <a:pt x="85328" y="285512"/>
                  <a:pt x="87154" y="286068"/>
                  <a:pt x="88186" y="285036"/>
                </a:cubicBezTo>
                <a:cubicBezTo>
                  <a:pt x="89218" y="284242"/>
                  <a:pt x="88979" y="282416"/>
                  <a:pt x="87630" y="280908"/>
                </a:cubicBezTo>
                <a:cubicBezTo>
                  <a:pt x="86360" y="279638"/>
                  <a:pt x="84534" y="279083"/>
                  <a:pt x="83503" y="280114"/>
                </a:cubicBezTo>
                <a:close/>
                <a:moveTo>
                  <a:pt x="74930" y="273685"/>
                </a:moveTo>
                <a:cubicBezTo>
                  <a:pt x="74374" y="274717"/>
                  <a:pt x="75168" y="275987"/>
                  <a:pt x="76756" y="276781"/>
                </a:cubicBezTo>
                <a:cubicBezTo>
                  <a:pt x="78026" y="277574"/>
                  <a:pt x="79613" y="277336"/>
                  <a:pt x="80169" y="276225"/>
                </a:cubicBezTo>
                <a:cubicBezTo>
                  <a:pt x="80724" y="275193"/>
                  <a:pt x="79931" y="273923"/>
                  <a:pt x="78343" y="273129"/>
                </a:cubicBezTo>
                <a:cubicBezTo>
                  <a:pt x="76756" y="272653"/>
                  <a:pt x="75486" y="272891"/>
                  <a:pt x="74930" y="273685"/>
                </a:cubicBezTo>
                <a:close/>
                <a:moveTo>
                  <a:pt x="100648" y="301943"/>
                </a:moveTo>
                <a:cubicBezTo>
                  <a:pt x="99378" y="302974"/>
                  <a:pt x="99854" y="305356"/>
                  <a:pt x="101679" y="306864"/>
                </a:cubicBezTo>
                <a:cubicBezTo>
                  <a:pt x="103505" y="308689"/>
                  <a:pt x="105807" y="308927"/>
                  <a:pt x="106839" y="307658"/>
                </a:cubicBezTo>
                <a:cubicBezTo>
                  <a:pt x="107871" y="306626"/>
                  <a:pt x="107394" y="304244"/>
                  <a:pt x="105807" y="302736"/>
                </a:cubicBezTo>
                <a:cubicBezTo>
                  <a:pt x="104061" y="300911"/>
                  <a:pt x="101679" y="300672"/>
                  <a:pt x="100648" y="301943"/>
                </a:cubicBezTo>
                <a:close/>
                <a:moveTo>
                  <a:pt x="91599" y="290274"/>
                </a:moveTo>
                <a:cubicBezTo>
                  <a:pt x="90329" y="291068"/>
                  <a:pt x="90329" y="293132"/>
                  <a:pt x="91599" y="294957"/>
                </a:cubicBezTo>
                <a:cubicBezTo>
                  <a:pt x="92869" y="296783"/>
                  <a:pt x="95012" y="297577"/>
                  <a:pt x="96044" y="296783"/>
                </a:cubicBezTo>
                <a:cubicBezTo>
                  <a:pt x="97314" y="295751"/>
                  <a:pt x="97314" y="293688"/>
                  <a:pt x="96044" y="291862"/>
                </a:cubicBezTo>
                <a:cubicBezTo>
                  <a:pt x="94932" y="290036"/>
                  <a:pt x="92869" y="289243"/>
                  <a:pt x="91599" y="290274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2222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Watch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noir-lang, alloy-rs, anchor-lang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8500" y="2095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330200"/>
                </a:moveTo>
                <a:lnTo>
                  <a:pt x="0" y="95250"/>
                </a:lnTo>
                <a:cubicBezTo>
                  <a:pt x="0" y="84693"/>
                  <a:pt x="8493" y="76200"/>
                  <a:pt x="19050" y="76200"/>
                </a:cubicBezTo>
                <a:cubicBezTo>
                  <a:pt x="29607" y="76200"/>
                  <a:pt x="38100" y="84693"/>
                  <a:pt x="38100" y="95250"/>
                </a:cubicBezTo>
                <a:lnTo>
                  <a:pt x="38100" y="323850"/>
                </a:lnTo>
                <a:cubicBezTo>
                  <a:pt x="38100" y="334407"/>
                  <a:pt x="46593" y="342900"/>
                  <a:pt x="57150" y="342900"/>
                </a:cubicBezTo>
                <a:cubicBezTo>
                  <a:pt x="67707" y="342900"/>
                  <a:pt x="76200" y="334407"/>
                  <a:pt x="76200" y="323850"/>
                </a:cubicBezTo>
                <a:lnTo>
                  <a:pt x="76200" y="76200"/>
                </a:lnTo>
                <a:cubicBezTo>
                  <a:pt x="76200" y="48181"/>
                  <a:pt x="98981" y="25400"/>
                  <a:pt x="127000" y="25400"/>
                </a:cubicBezTo>
                <a:lnTo>
                  <a:pt x="355600" y="25400"/>
                </a:lnTo>
                <a:cubicBezTo>
                  <a:pt x="383619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3619" y="381000"/>
                  <a:pt x="3556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close/>
                <a:moveTo>
                  <a:pt x="127000" y="101600"/>
                </a:moveTo>
                <a:lnTo>
                  <a:pt x="127000" y="152400"/>
                </a:lnTo>
                <a:cubicBezTo>
                  <a:pt x="127000" y="166449"/>
                  <a:pt x="138351" y="177800"/>
                  <a:pt x="152400" y="177800"/>
                </a:cubicBezTo>
                <a:lnTo>
                  <a:pt x="203200" y="177800"/>
                </a:lnTo>
                <a:cubicBezTo>
                  <a:pt x="217249" y="177800"/>
                  <a:pt x="228600" y="166449"/>
                  <a:pt x="228600" y="152400"/>
                </a:cubicBezTo>
                <a:lnTo>
                  <a:pt x="228600" y="101600"/>
                </a:lnTo>
                <a:cubicBezTo>
                  <a:pt x="228600" y="87551"/>
                  <a:pt x="217249" y="76200"/>
                  <a:pt x="203200" y="76200"/>
                </a:cubicBezTo>
                <a:lnTo>
                  <a:pt x="152400" y="76200"/>
                </a:lnTo>
                <a:cubicBezTo>
                  <a:pt x="138351" y="76200"/>
                  <a:pt x="127000" y="87551"/>
                  <a:pt x="127000" y="101600"/>
                </a:cubicBezTo>
                <a:close/>
                <a:moveTo>
                  <a:pt x="146050" y="292100"/>
                </a:moveTo>
                <a:cubicBezTo>
                  <a:pt x="135493" y="292100"/>
                  <a:pt x="127000" y="300593"/>
                  <a:pt x="127000" y="311150"/>
                </a:cubicBezTo>
                <a:cubicBezTo>
                  <a:pt x="127000" y="321707"/>
                  <a:pt x="135493" y="330200"/>
                  <a:pt x="146050" y="330200"/>
                </a:cubicBezTo>
                <a:lnTo>
                  <a:pt x="336550" y="330200"/>
                </a:lnTo>
                <a:cubicBezTo>
                  <a:pt x="347107" y="330200"/>
                  <a:pt x="355600" y="321707"/>
                  <a:pt x="355600" y="311150"/>
                </a:cubicBezTo>
                <a:cubicBezTo>
                  <a:pt x="355600" y="300593"/>
                  <a:pt x="347107" y="292100"/>
                  <a:pt x="336550" y="292100"/>
                </a:cubicBezTo>
                <a:lnTo>
                  <a:pt x="146050" y="292100"/>
                </a:lnTo>
                <a:close/>
                <a:moveTo>
                  <a:pt x="127000" y="234950"/>
                </a:moveTo>
                <a:cubicBezTo>
                  <a:pt x="127000" y="245507"/>
                  <a:pt x="135493" y="254000"/>
                  <a:pt x="146050" y="254000"/>
                </a:cubicBezTo>
                <a:lnTo>
                  <a:pt x="336550" y="254000"/>
                </a:lnTo>
                <a:cubicBezTo>
                  <a:pt x="347107" y="254000"/>
                  <a:pt x="355600" y="245507"/>
                  <a:pt x="355600" y="234950"/>
                </a:cubicBezTo>
                <a:cubicBezTo>
                  <a:pt x="355600" y="224393"/>
                  <a:pt x="347107" y="215900"/>
                  <a:pt x="336550" y="215900"/>
                </a:cubicBezTo>
                <a:lnTo>
                  <a:pt x="146050" y="215900"/>
                </a:lnTo>
                <a:cubicBezTo>
                  <a:pt x="135493" y="215900"/>
                  <a:pt x="127000" y="224393"/>
                  <a:pt x="127000" y="234950"/>
                </a:cubicBezTo>
                <a:close/>
                <a:moveTo>
                  <a:pt x="285750" y="139700"/>
                </a:moveTo>
                <a:cubicBezTo>
                  <a:pt x="275193" y="139700"/>
                  <a:pt x="266700" y="148193"/>
                  <a:pt x="266700" y="158750"/>
                </a:cubicBezTo>
                <a:cubicBezTo>
                  <a:pt x="266700" y="169307"/>
                  <a:pt x="275193" y="177800"/>
                  <a:pt x="285750" y="177800"/>
                </a:cubicBezTo>
                <a:lnTo>
                  <a:pt x="336550" y="177800"/>
                </a:lnTo>
                <a:cubicBezTo>
                  <a:pt x="347107" y="177800"/>
                  <a:pt x="355600" y="169307"/>
                  <a:pt x="355600" y="158750"/>
                </a:cubicBezTo>
                <a:cubicBezTo>
                  <a:pt x="355600" y="148193"/>
                  <a:pt x="347107" y="139700"/>
                  <a:pt x="336550" y="139700"/>
                </a:cubicBezTo>
                <a:lnTo>
                  <a:pt x="285750" y="13970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5334000" y="2222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Newsletters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in Ethereum, Solana Weekly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5000" y="2095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4400" y="228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0"/>
                </a:moveTo>
                <a:cubicBezTo>
                  <a:pt x="87551" y="0"/>
                  <a:pt x="76200" y="11351"/>
                  <a:pt x="76200" y="25400"/>
                </a:cubicBezTo>
                <a:lnTo>
                  <a:pt x="76200" y="50800"/>
                </a:lnTo>
                <a:lnTo>
                  <a:pt x="50800" y="50800"/>
                </a:lnTo>
                <a:cubicBezTo>
                  <a:pt x="22781" y="50800"/>
                  <a:pt x="0" y="73581"/>
                  <a:pt x="0" y="101600"/>
                </a:cubicBezTo>
                <a:lnTo>
                  <a:pt x="0" y="139700"/>
                </a:lnTo>
                <a:lnTo>
                  <a:pt x="355600" y="139700"/>
                </a:ln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279400" y="50800"/>
                </a:lnTo>
                <a:lnTo>
                  <a:pt x="279400" y="25400"/>
                </a:lnTo>
                <a:cubicBezTo>
                  <a:pt x="279400" y="11351"/>
                  <a:pt x="268049" y="0"/>
                  <a:pt x="254000" y="0"/>
                </a:cubicBezTo>
                <a:cubicBezTo>
                  <a:pt x="239951" y="0"/>
                  <a:pt x="228600" y="11351"/>
                  <a:pt x="228600" y="25400"/>
                </a:cubicBezTo>
                <a:lnTo>
                  <a:pt x="228600" y="50800"/>
                </a:lnTo>
                <a:lnTo>
                  <a:pt x="127000" y="50800"/>
                </a:lnTo>
                <a:lnTo>
                  <a:pt x="127000" y="25400"/>
                </a:lnTo>
                <a:cubicBezTo>
                  <a:pt x="127000" y="11351"/>
                  <a:pt x="115649" y="0"/>
                  <a:pt x="101600" y="0"/>
                </a:cubicBezTo>
                <a:close/>
                <a:moveTo>
                  <a:pt x="0" y="177800"/>
                </a:move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177800"/>
                </a:lnTo>
                <a:lnTo>
                  <a:pt x="0" y="17780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9080500" y="2222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Événements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ETHGlobal, Solana Breakpoint, ZK Summit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01500" y="20955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30100" y="228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34620" y="121761"/>
                </a:moveTo>
                <a:lnTo>
                  <a:pt x="119777" y="106918"/>
                </a:lnTo>
                <a:cubicBezTo>
                  <a:pt x="109855" y="96996"/>
                  <a:pt x="109855" y="80883"/>
                  <a:pt x="119777" y="70961"/>
                </a:cubicBezTo>
                <a:lnTo>
                  <a:pt x="210820" y="-20161"/>
                </a:lnTo>
                <a:cubicBezTo>
                  <a:pt x="220742" y="-30083"/>
                  <a:pt x="236855" y="-30083"/>
                  <a:pt x="246777" y="-20161"/>
                </a:cubicBezTo>
                <a:lnTo>
                  <a:pt x="261620" y="-5239"/>
                </a:lnTo>
                <a:cubicBezTo>
                  <a:pt x="271542" y="4683"/>
                  <a:pt x="271542" y="20796"/>
                  <a:pt x="261620" y="30718"/>
                </a:cubicBezTo>
                <a:lnTo>
                  <a:pt x="170577" y="121761"/>
                </a:lnTo>
                <a:cubicBezTo>
                  <a:pt x="160655" y="131683"/>
                  <a:pt x="144542" y="131683"/>
                  <a:pt x="134620" y="121761"/>
                </a:cubicBezTo>
                <a:close/>
                <a:moveTo>
                  <a:pt x="219075" y="168037"/>
                </a:moveTo>
                <a:lnTo>
                  <a:pt x="194151" y="143113"/>
                </a:lnTo>
                <a:lnTo>
                  <a:pt x="283051" y="54213"/>
                </a:lnTo>
                <a:lnTo>
                  <a:pt x="377825" y="148987"/>
                </a:lnTo>
                <a:lnTo>
                  <a:pt x="288925" y="237887"/>
                </a:lnTo>
                <a:lnTo>
                  <a:pt x="264001" y="212963"/>
                </a:lnTo>
                <a:lnTo>
                  <a:pt x="79851" y="397113"/>
                </a:lnTo>
                <a:cubicBezTo>
                  <a:pt x="67469" y="409496"/>
                  <a:pt x="47387" y="409496"/>
                  <a:pt x="34925" y="397113"/>
                </a:cubicBezTo>
                <a:cubicBezTo>
                  <a:pt x="22463" y="384731"/>
                  <a:pt x="22543" y="364649"/>
                  <a:pt x="34925" y="352187"/>
                </a:cubicBezTo>
                <a:lnTo>
                  <a:pt x="219075" y="168037"/>
                </a:lnTo>
                <a:close/>
                <a:moveTo>
                  <a:pt x="310277" y="297339"/>
                </a:moveTo>
                <a:cubicBezTo>
                  <a:pt x="300355" y="287417"/>
                  <a:pt x="300355" y="271304"/>
                  <a:pt x="310277" y="261382"/>
                </a:cubicBezTo>
                <a:lnTo>
                  <a:pt x="401320" y="170339"/>
                </a:lnTo>
                <a:cubicBezTo>
                  <a:pt x="411242" y="160417"/>
                  <a:pt x="427355" y="160417"/>
                  <a:pt x="437277" y="170339"/>
                </a:cubicBezTo>
                <a:lnTo>
                  <a:pt x="452120" y="185182"/>
                </a:lnTo>
                <a:cubicBezTo>
                  <a:pt x="462042" y="195104"/>
                  <a:pt x="462042" y="211217"/>
                  <a:pt x="452120" y="221139"/>
                </a:cubicBezTo>
                <a:lnTo>
                  <a:pt x="361077" y="312261"/>
                </a:lnTo>
                <a:cubicBezTo>
                  <a:pt x="351155" y="322183"/>
                  <a:pt x="335042" y="322183"/>
                  <a:pt x="325120" y="312261"/>
                </a:cubicBezTo>
                <a:lnTo>
                  <a:pt x="310277" y="297418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12827000" y="2222500"/>
            <a:ext cx="247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Réglementaire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MiCA phase 2, SEC guidance crypto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Évolutions clés 2025-2026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4450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45720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572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59000" y="44450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Noir v1.x stable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production-ready, syntaxe mature, tooling complet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5245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" y="56515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651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59000" y="55245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EIP-4844 blobs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coûts de preuve EVM réduits, impact économique et écologique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44450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FED7A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2500" y="45720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8572500" y="4572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79000" y="44450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Firedancer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client alternatif, réduction latence, meilleure fiabilité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55245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22C55E">
              <a:alpha val="12549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72500" y="5651500"/>
            <a:ext cx="1016000" cy="3556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8572500" y="56515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79000" y="55245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quantifiés locaux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Qwen3, LFM2.5 : confidentialité + écologie viables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6604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/>
        </p:spPr>
      </p:sp>
      <p:sp>
        <p:nvSpPr>
          <p:cNvPr id="35" name="Shape 33"/>
          <p:cNvSpPr/>
          <p:nvPr/>
        </p:nvSpPr>
        <p:spPr>
          <a:xfrm>
            <a:off x="952500" y="6731000"/>
            <a:ext cx="1270000" cy="3556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6731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À SUIVRE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13000" y="6604000"/>
            <a:ext cx="1289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MiCA stablecoin &amp; CASP 2026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encadrement des agents de garde. Impact à surveiller (besoin clarification statut non-custodial).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Otter, c'est simple comme un assistant bancaire multi-banques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0000" y="1778000"/>
            <a:ext cx="13716000" cy="4064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09750" y="215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0" y="214313"/>
                </a:moveTo>
                <a:cubicBezTo>
                  <a:pt x="0" y="148530"/>
                  <a:pt x="53280" y="95250"/>
                  <a:pt x="119063" y="95250"/>
                </a:cubicBezTo>
                <a:lnTo>
                  <a:pt x="127000" y="95250"/>
                </a:lnTo>
                <a:cubicBezTo>
                  <a:pt x="144562" y="95250"/>
                  <a:pt x="158750" y="109438"/>
                  <a:pt x="158750" y="127000"/>
                </a:cubicBezTo>
                <a:cubicBezTo>
                  <a:pt x="158750" y="144562"/>
                  <a:pt x="144562" y="158750"/>
                  <a:pt x="127000" y="158750"/>
                </a:cubicBezTo>
                <a:lnTo>
                  <a:pt x="119063" y="158750"/>
                </a:lnTo>
                <a:cubicBezTo>
                  <a:pt x="88404" y="158750"/>
                  <a:pt x="63500" y="183654"/>
                  <a:pt x="63500" y="214313"/>
                </a:cubicBezTo>
                <a:lnTo>
                  <a:pt x="63500" y="222250"/>
                </a:lnTo>
                <a:lnTo>
                  <a:pt x="127000" y="222250"/>
                </a:lnTo>
                <a:cubicBezTo>
                  <a:pt x="162024" y="222250"/>
                  <a:pt x="190500" y="250726"/>
                  <a:pt x="190500" y="285750"/>
                </a:cubicBezTo>
                <a:lnTo>
                  <a:pt x="190500" y="349250"/>
                </a:lnTo>
                <a:cubicBezTo>
                  <a:pt x="190500" y="384274"/>
                  <a:pt x="162024" y="412750"/>
                  <a:pt x="127000" y="412750"/>
                </a:cubicBezTo>
                <a:lnTo>
                  <a:pt x="63500" y="412750"/>
                </a:lnTo>
                <a:cubicBezTo>
                  <a:pt x="28476" y="412750"/>
                  <a:pt x="0" y="384274"/>
                  <a:pt x="0" y="349250"/>
                </a:cubicBezTo>
                <a:lnTo>
                  <a:pt x="0" y="214313"/>
                </a:lnTo>
                <a:close/>
                <a:moveTo>
                  <a:pt x="254000" y="214313"/>
                </a:moveTo>
                <a:cubicBezTo>
                  <a:pt x="254000" y="148530"/>
                  <a:pt x="307280" y="95250"/>
                  <a:pt x="373063" y="95250"/>
                </a:cubicBezTo>
                <a:lnTo>
                  <a:pt x="381000" y="95250"/>
                </a:lnTo>
                <a:cubicBezTo>
                  <a:pt x="398562" y="95250"/>
                  <a:pt x="412750" y="109438"/>
                  <a:pt x="412750" y="127000"/>
                </a:cubicBezTo>
                <a:cubicBezTo>
                  <a:pt x="412750" y="144562"/>
                  <a:pt x="398562" y="158750"/>
                  <a:pt x="381000" y="158750"/>
                </a:cubicBezTo>
                <a:lnTo>
                  <a:pt x="373063" y="158750"/>
                </a:lnTo>
                <a:cubicBezTo>
                  <a:pt x="342404" y="158750"/>
                  <a:pt x="317500" y="183654"/>
                  <a:pt x="317500" y="214313"/>
                </a:cubicBezTo>
                <a:lnTo>
                  <a:pt x="317500" y="222250"/>
                </a:lnTo>
                <a:lnTo>
                  <a:pt x="381000" y="222250"/>
                </a:lnTo>
                <a:cubicBezTo>
                  <a:pt x="416024" y="222250"/>
                  <a:pt x="444500" y="250726"/>
                  <a:pt x="444500" y="285750"/>
                </a:cubicBezTo>
                <a:lnTo>
                  <a:pt x="444500" y="349250"/>
                </a:lnTo>
                <a:cubicBezTo>
                  <a:pt x="444500" y="384274"/>
                  <a:pt x="416024" y="412750"/>
                  <a:pt x="381000" y="412750"/>
                </a:cubicBezTo>
                <a:lnTo>
                  <a:pt x="317500" y="412750"/>
                </a:lnTo>
                <a:cubicBezTo>
                  <a:pt x="282476" y="412750"/>
                  <a:pt x="254000" y="384274"/>
                  <a:pt x="254000" y="349250"/>
                </a:cubicBezTo>
                <a:lnTo>
                  <a:pt x="254000" y="214313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2794000"/>
            <a:ext cx="1270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Imaginez un assistant financier multi-banques qui ne peut jamais dépasser votre mandat, dont chaque décision est vérifiable mathématiquement, et qui vous reverse une partie de ses commissions.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Vous gardez la main sur vos fonds. C'est Otter.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mots-clés simplifiés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67945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7000" y="6858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ZKP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72644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Preuve mathématique vérifiant sans révéler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99000" y="67945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6000" y="6858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6000" y="72644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 extraite des transactions, ici reversée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67945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5000" y="6858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Non-custodial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5000" y="72644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Vous gardez vos clés, vos fonds, votre contrôle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557000" y="679450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84000" y="6858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B92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84000" y="7239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Coffre-fort smart contract programmable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Traitement des objections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76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05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"C'est trop complexe 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13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L'interface est un simple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textarea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comme Google. Vous tapez votre stratégie en français. La complexité cryptographique est sous le capot — vous ne la voyez jamais.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651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651000"/>
            <a:ext cx="7112000" cy="762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905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8A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"Solana, c'est risqué ?"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413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Vault natif Solana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pas de bridge. Même sécurité que sur EVM. Preuve ZK identique. Adapter Rust/Anchor dédié pour le paradigme comptes.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953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4953000"/>
            <a:ext cx="7112000" cy="76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20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"Et si l'agent disparaît ?"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715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Révocation instantanée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tout moment. Vos fonds restent dans le vault natif — jamais déplacés sans preuve ZK valide. Pas de garde chez un tiers.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4953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2000" y="4953000"/>
            <a:ext cx="7112000" cy="76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520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"Pourquoi ZK et pas juste signer ?"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57150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signature prouve que vous avez signé. 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ZK prouve que l'action respecte vos règles sans révéler vos règles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vos concurrents. Confidentialité + vérifiabilité.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rnwxpe7m5mym/mnt/agents/output/otter_presentation/images/4_121_212_Blockchain_Abstract_Royalty.png">    </p:cNvPr>
          <p:cNvPicPr>
            <a:picLocks noChangeAspect="1"/>
          </p:cNvPicPr>
          <p:nvPr/>
        </p:nvPicPr>
        <p:blipFill>
          <a:blip r:embed="rId1"/>
          <a:srcRect l="0" r="0" t="74" b="7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50000">
                <a:srgbClr val="1E3A8A">
                  <a:alpha val="80000"/>
                </a:srgbClr>
              </a:gs>
              <a:gs pos="100000">
                <a:srgbClr val="1E3A8A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8000" y="1524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8000" y="254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MVP — Recherche partenariats audit &amp; testnet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3302000"/>
            <a:ext cx="2540000" cy="0"/>
          </a:xfrm>
          <a:prstGeom prst="straightConnector1">
            <a:avLst/>
          </a:prstGeom>
          <a:noFill/>
          <a:ln w="127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7175500" y="3683000"/>
            <a:ext cx="1905000" cy="1905000"/>
          </a:xfrm>
          <a:prstGeom prst="rect">
            <a:avLst/>
          </a:prstGeom>
          <a:solidFill>
            <a:srgbClr val="FFFFFF">
              <a:alpha val="12549"/>
            </a:srgbClr>
          </a:solidFill>
          <a:ln w="254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40500" y="5715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QR — Documentation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6223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contact@otter.finance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: github.com/otter-protocol (privé)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: docs.otter.finance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000" y="77470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5588000" y="7747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Otter — Automatisation DeFi trustless multi-chain</dc:title>
  <dc:subject>Otter — Automatisation DeFi trustless multi-chain</dc:subject>
  <dc:creator>Kimi</dc:creator>
  <cp:lastModifiedBy>Kimi</cp:lastModifiedBy>
  <cp:revision>1</cp:revision>
  <dcterms:created xsi:type="dcterms:W3CDTF">2026-05-07T08:09:26Z</dcterms:created>
  <dcterms:modified xsi:type="dcterms:W3CDTF">2026-05-07T08:09:26Z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{"Label":"Otter — Automatisation DeFi trustless multi-chain","ContentProducer":"001191110108MACG2KBH8F10000","ProduceID":"19df2432-8312-86d3-8000-0000a6791bd6","ReservedCode1":"","ContentPropagator":"001191110108MACG2KBH8F20000","PropagateID":"19df2432-8312-86d3-8000-0000a6791bd6","ReservedCode2":""}</vt:lpwstr>
  </property>
</Properties>
</file>